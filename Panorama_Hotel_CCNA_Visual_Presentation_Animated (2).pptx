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1cf1369166445b" /><Relationship Type="http://schemas.openxmlformats.org/officeDocument/2006/relationships/extended-properties" Target="/docProps/app.xml" Id="R0b935164949f4e45" /><Relationship Type="http://schemas.openxmlformats.org/officeDocument/2006/relationships/officeDocument" Target="/ppt/presentation.xml" Id="R3fc65f424d9b43a2" /></Relationships>
</file>

<file path=ppt/presentation.xml><?xml version="1.0" encoding="utf-8"?>
<p:presentation xmlns:p="http://schemas.openxmlformats.org/presentationml/2006/main">
  <p:sldMasterIdLst>
    <p:sldMasterId xmlns:r="http://schemas.openxmlformats.org/officeDocument/2006/relationships" id="2147483648" r:id="R765be3e3ee844b40"/>
  </p:sldMasterIdLst>
  <p:notesMasterIdLst>
    <p:notesMasterId xmlns:r="http://schemas.openxmlformats.org/officeDocument/2006/relationships" r:id="R6ca11cd85c614ee8"/>
  </p:notesMasterIdLst>
  <p:sldIdLst>
    <p:sldId xmlns:r="http://schemas.openxmlformats.org/officeDocument/2006/relationships" id="256" r:id="R05931a2002b94eb9"/>
    <p:sldId xmlns:r="http://schemas.openxmlformats.org/officeDocument/2006/relationships" id="257" r:id="R416ec7fb9a3e44ef"/>
    <p:sldId xmlns:r="http://schemas.openxmlformats.org/officeDocument/2006/relationships" id="258" r:id="Rf067a1a273104935"/>
    <p:sldId xmlns:r="http://schemas.openxmlformats.org/officeDocument/2006/relationships" id="259" r:id="R16c49ccd420a4788"/>
    <p:sldId xmlns:r="http://schemas.openxmlformats.org/officeDocument/2006/relationships" id="260" r:id="R5abb451ccc9a4514"/>
    <p:sldId xmlns:r="http://schemas.openxmlformats.org/officeDocument/2006/relationships" id="261" r:id="Re2ebf8095d02412f"/>
    <p:sldId xmlns:r="http://schemas.openxmlformats.org/officeDocument/2006/relationships" id="262" r:id="R218b1c6d6144477f"/>
    <p:sldId xmlns:r="http://schemas.openxmlformats.org/officeDocument/2006/relationships" id="263" r:id="Re042d5aa5c764c9e"/>
    <p:sldId xmlns:r="http://schemas.openxmlformats.org/officeDocument/2006/relationships" id="264" r:id="R07e6902a4ac84e24"/>
    <p:sldId xmlns:r="http://schemas.openxmlformats.org/officeDocument/2006/relationships" id="265" r:id="Rb1e6de399abf442a"/>
    <p:sldId xmlns:r="http://schemas.openxmlformats.org/officeDocument/2006/relationships" id="266" r:id="Rfdab9bd1af374cdd"/>
    <p:sldId xmlns:r="http://schemas.openxmlformats.org/officeDocument/2006/relationships" id="267" r:id="R2261f19b0b2b463c"/>
    <p:sldId xmlns:r="http://schemas.openxmlformats.org/officeDocument/2006/relationships" id="268" r:id="R8f5e9646702845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1f5cb3cd93494c" /><Relationship Type="http://schemas.openxmlformats.org/officeDocument/2006/relationships/slideMaster" Target="/ppt/slideMasters/slideMaster1.xml" Id="R765be3e3ee844b40" /><Relationship Type="http://schemas.openxmlformats.org/officeDocument/2006/relationships/notesMaster" Target="/ppt/notesMasters/notesMaster1.xml" Id="R6ca11cd85c614ee8" /><Relationship Type="http://schemas.openxmlformats.org/officeDocument/2006/relationships/presProps" Target="/ppt/presProps.xml" Id="R7a7113652349458a" /><Relationship Type="http://schemas.openxmlformats.org/officeDocument/2006/relationships/tableStyles" Target="/ppt/tableStyles.xml" Id="R5cb95578e1a04dc0" /><Relationship Type="http://schemas.openxmlformats.org/officeDocument/2006/relationships/slide" Target="/ppt/slides/slide1.xml" Id="R05931a2002b94eb9" /><Relationship Type="http://schemas.openxmlformats.org/officeDocument/2006/relationships/slide" Target="/ppt/slides/slide2.xml" Id="R416ec7fb9a3e44ef" /><Relationship Type="http://schemas.openxmlformats.org/officeDocument/2006/relationships/slide" Target="/ppt/slides/slide3.xml" Id="Rf067a1a273104935" /><Relationship Type="http://schemas.openxmlformats.org/officeDocument/2006/relationships/slide" Target="/ppt/slides/slide4.xml" Id="R16c49ccd420a4788" /><Relationship Type="http://schemas.openxmlformats.org/officeDocument/2006/relationships/slide" Target="/ppt/slides/slide5.xml" Id="R5abb451ccc9a4514" /><Relationship Type="http://schemas.openxmlformats.org/officeDocument/2006/relationships/slide" Target="/ppt/slides/slide6.xml" Id="Re2ebf8095d02412f" /><Relationship Type="http://schemas.openxmlformats.org/officeDocument/2006/relationships/slide" Target="/ppt/slides/slide7.xml" Id="R218b1c6d6144477f" /><Relationship Type="http://schemas.openxmlformats.org/officeDocument/2006/relationships/slide" Target="/ppt/slides/slide8.xml" Id="Re042d5aa5c764c9e" /><Relationship Type="http://schemas.openxmlformats.org/officeDocument/2006/relationships/slide" Target="/ppt/slides/slide9.xml" Id="R07e6902a4ac84e24" /><Relationship Type="http://schemas.openxmlformats.org/officeDocument/2006/relationships/slide" Target="/ppt/slides/slide10.xml" Id="Rb1e6de399abf442a" /><Relationship Type="http://schemas.openxmlformats.org/officeDocument/2006/relationships/slide" Target="/ppt/slides/slide11.xml" Id="Rfdab9bd1af374cdd" /><Relationship Type="http://schemas.openxmlformats.org/officeDocument/2006/relationships/slide" Target="/ppt/slides/slide12.xml" Id="R2261f19b0b2b463c" /><Relationship Type="http://schemas.openxmlformats.org/officeDocument/2006/relationships/slide" Target="/ppt/slides/slide13.xml" Id="R8f5e9646702845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709e0c32d94d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d7536dec964304" /><Relationship Type="http://schemas.openxmlformats.org/officeDocument/2006/relationships/notesMaster" Target="/ppt/notesMasters/notesMaster1.xml" Id="R492db49d644242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7a221d79464d4e" /><Relationship Type="http://schemas.openxmlformats.org/officeDocument/2006/relationships/notesMaster" Target="/ppt/notesMasters/notesMaster1.xml" Id="R39c957a7afda44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a486e384874ee3" /><Relationship Type="http://schemas.openxmlformats.org/officeDocument/2006/relationships/notesMaster" Target="/ppt/notesMasters/notesMaster1.xml" Id="Red275941db1045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bfa360d053446d" /><Relationship Type="http://schemas.openxmlformats.org/officeDocument/2006/relationships/notesMaster" Target="/ppt/notesMasters/notesMaster1.xml" Id="R342d2ec063b142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b53f75bbeb4a8b" /><Relationship Type="http://schemas.openxmlformats.org/officeDocument/2006/relationships/notesMaster" Target="/ppt/notesMasters/notesMaster1.xml" Id="Rd66cca0086fe4f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92fdf3880f47b7" /><Relationship Type="http://schemas.openxmlformats.org/officeDocument/2006/relationships/notesMaster" Target="/ppt/notesMasters/notesMaster1.xml" Id="R115e03a483204b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1e5f182db24e7b" /><Relationship Type="http://schemas.openxmlformats.org/officeDocument/2006/relationships/notesMaster" Target="/ppt/notesMasters/notesMaster1.xml" Id="R52491352e2e149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a059768d6b4f13" /><Relationship Type="http://schemas.openxmlformats.org/officeDocument/2006/relationships/notesMaster" Target="/ppt/notesMasters/notesMaster1.xml" Id="Rf380a7db916440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322b2ccba24da4" /><Relationship Type="http://schemas.openxmlformats.org/officeDocument/2006/relationships/notesMaster" Target="/ppt/notesMasters/notesMaster1.xml" Id="R6655b4cdf2d042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532e135a2e4aef" /><Relationship Type="http://schemas.openxmlformats.org/officeDocument/2006/relationships/notesMaster" Target="/ppt/notesMasters/notesMaster1.xml" Id="R57270bbfa9774d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193690155742ad" /><Relationship Type="http://schemas.openxmlformats.org/officeDocument/2006/relationships/notesMaster" Target="/ppt/notesMasters/notesMaster1.xml" Id="Rfa47c150072646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ac04ba3d6c46f1" /><Relationship Type="http://schemas.openxmlformats.org/officeDocument/2006/relationships/notesMaster" Target="/ppt/notesMasters/notesMaster1.xml" Id="Re29e0ef16a8f40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810dd894654d80" /><Relationship Type="http://schemas.openxmlformats.org/officeDocument/2006/relationships/notesMaster" Target="/ppt/notesMasters/notesMaster1.xml" Id="R44aa3728d0744a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Panorama Hotel models two buildings in different parts of the same city. This illustration is conceptual, not a screenshot of the Packet Tracer file. We will explain why the departments are separated and how shared services remain reachable.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has two hotel buildings. Departments need their own local networks but common DHCP, DNS and hotel web services. The central service network avoids one independent server set per department.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Cisco 2960 switches connect clients and APs. SW-L3-1 and SW-L3-2 provide VLAN SVIs and gateway redundancy. SW-L3-3 and SW-L3-4 connect routed paths toward the service and edge segment; RTR-1 connects to simulated RTR-2. This diagram simplifies the physical topology, so it must not be presented as a Packet Tracer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documented configuration, VLAN 10 is Reception, 20 Accounts, 30 HR, 40 Sales and Marketing, 50 IT, 60 Management and 70 Printers. VLANs separate Layer-2 broadcast domains. Inter-VLAN routing on the multilayer switches still allows network communication; no departmental ACL restriction is claimed. VLAN 1 serves wireless clients; VLAN 5 is an infrastructure/reserved SVI.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Multilayer SVIs route between user VLANs. Clients use the HSRP virtual address ending in .254 rather than a particular switch interface. SW-L3-1 has priority 150 and preempt on departmental VLANs, so it is the preferred active gateway in the saved configuration; the live state and failover still need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OSPF process 1 area 0 exchanges the internal routes among the Layer-3 devices and RTR-1. The routed design has paths through SW-L3-3 and SW-L3-4. Dynamic routing is used so the devices learn remote networks. This slide illustrates possible paths; actual convergence is an item for live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SW-L2-0 and SW-L2-1, FastEthernet0/8 and FastEthernet0/11 are the physical member links. The other pair SW-L2-2 and SW-L2-3 uses the same member numbers. Both sides use channel-group 1 mode 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EtherChannel bundles the two physical links into Port-channel1, which carries VLAN traffic as a trunk. LACP active negotiates the bundle on both switches. It increases aggregate link capacity and can keep the bundle available if one member link fails, but the actual status should be checked with show etherchannel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DHCP server assigns the addresses, masks, .254 gateway and DNS address to user VLANs. ip helper-address on the SVIs forwards DHCP broadcasts to the server at 192.168.120.2. DNS resolves www.panoramahotel.com to HTTP server 192.168.120.4. The servers are documented with gateway .5, so the server-side HSRP .254 VIP is not their active default gateway.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image only, not a photograph of Panorama Hotel. The saved project contains four access points and wireless-capable laptops and smartphones. The documented SSID is Default, and clients use VLAN 1 / 192.168.1.0/24 with .254 gateway. The source indicates open/no-key authentication, so do not claim WPA protection.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RTR-1 translates inside private sources to its outside interface address 209.165.200.233 using ip nat inside source list 1 interface GigabitEthernet0/0/1 overload. The overload keyword means PAT: many inside flows can use one outside IPv4 address by distinguishing ports. RTR-2 simulates the external side; this is not a real Internet connection.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SSH is used for encrypted remote CLI management instead of plaintext Telnet. The project also includes basic configuration: device hostnames, enable secret, line passwords, password obfuscation, and MOTD warning banner. Avoid claiming departmental ACLs, a firewall, port security, or complete network security.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verification steps, not reported successful outcomes. In the live Packet Tracer session also check OSPF neighbors and routes, a DHCP lease, DNS resolution, access to the hotel web page, and controlled failover. Record observed results rather than marking tests as passed from configuration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30d97d6d054c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567d665aa140bb" /><Relationship Type="http://schemas.openxmlformats.org/officeDocument/2006/relationships/slideLayout" Target="/ppt/slideLayouts/slideLayout1.xml" Id="R9bde59ada4494e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de59ada4494e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2f1a09b6144acb" /><Relationship Type="http://schemas.openxmlformats.org/officeDocument/2006/relationships/image" Target="/ppt/media/image.png" Id="R1775e638285b42c7" /><Relationship Type="http://schemas.openxmlformats.org/officeDocument/2006/relationships/notesSlide" Target="/ppt/notesSlides/notesSlide1.xml" Id="Rfca11e494e6748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4d0b9afcd34905" /><Relationship Type="http://schemas.openxmlformats.org/officeDocument/2006/relationships/notesSlide" Target="/ppt/notesSlides/notesSlide2.xml" Id="Rbf90e4e1bede40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9f2bfcd1eb4371" /><Relationship Type="http://schemas.openxmlformats.org/officeDocument/2006/relationships/notesSlide" Target="/ppt/notesSlides/notesSlide3.xml" Id="R9edb16c7c1c440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ac61d681b54e40" /><Relationship Type="http://schemas.openxmlformats.org/officeDocument/2006/relationships/notesSlide" Target="/ppt/notesSlides/notesSlide4.xml" Id="R4e03bc76f92e4b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e2263527514fbf" /><Relationship Type="http://schemas.openxmlformats.org/officeDocument/2006/relationships/notesSlide" Target="/ppt/notesSlides/notesSlide5.xml" Id="R6d9b9a5d8e304c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a5867b5b024108" /><Relationship Type="http://schemas.openxmlformats.org/officeDocument/2006/relationships/notesSlide" Target="/ppt/notesSlides/notesSlide6.xml" Id="R3b5ec926099640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d6fc9450fa42cf" /><Relationship Type="http://schemas.openxmlformats.org/officeDocument/2006/relationships/notesSlide" Target="/ppt/notesSlides/notesSlide7.xml" Id="R29005a8fde62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66c5748c8474af0" /><Relationship Type="http://schemas.openxmlformats.org/officeDocument/2006/relationships/notesSlide" Target="/ppt/notesSlides/notesSlide8.xml" Id="Ra389fd0e8a684d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eb44cc4e184d79" /><Relationship Type="http://schemas.openxmlformats.org/officeDocument/2006/relationships/notesSlide" Target="/ppt/notesSlides/notesSlide9.xml" Id="R4f1fee0f8f6847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539577308d418f" /><Relationship Type="http://schemas.openxmlformats.org/officeDocument/2006/relationships/image" Target="/ppt/media/image2.png" Id="R5ac92df332d14b10" /><Relationship Type="http://schemas.openxmlformats.org/officeDocument/2006/relationships/notesSlide" Target="/ppt/notesSlides/notesSlide10.xml" Id="R508af911eb3a41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9fbf1e7f5aa4f92" /><Relationship Type="http://schemas.openxmlformats.org/officeDocument/2006/relationships/notesSlide" Target="/ppt/notesSlides/notesSlide11.xml" Id="R1b4b546ee7e742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bfa4f951004e86" /><Relationship Type="http://schemas.openxmlformats.org/officeDocument/2006/relationships/notesSlide" Target="/ppt/notesSlides/notesSlide12.xml" Id="R9b1c3f811d7e46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13ed6287dc4767" /><Relationship Type="http://schemas.openxmlformats.org/officeDocument/2006/relationships/notesSlide" Target="/ppt/notesSlides/notesSlide13.xml" Id="R5eaded858a25404c" /></Relationships>
</file>

<file path=ppt/slides/slide1.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775e638285b42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13F0DB-A960-4D87-970A-5A71C3E90266}"/>
              </a:ext>
            </a:extLst>
          </p:cNvPr>
          <p:cNvSpPr>
            <a:spLocks xmlns:a="http://schemas.openxmlformats.org/drawingml/2006/main" noGrp="1"/>
          </p:cNvSpPr>
          <p:nvPr/>
        </p:nvSpPr>
        <p:spPr>
          <a:xfrm xmlns:a="http://schemas.openxmlformats.org/drawingml/2006/main">
            <a:off x="666750" y="990600"/>
            <a:ext cx="51911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475" b="1">
                <a:solidFill>
                  <a:srgbClr val="F8FCFD"/>
                </a:solidFill>
                <a:latin typeface="Aptos"/>
                <a:ea typeface="Aptos"/>
                <a:cs typeface="Aptos"/>
              </a:defRPr>
            </a:pPr>
            <a:r>
              <a:rPr sz="5475" b="1">
                <a:solidFill>
                  <a:srgbClr val="F8FCFD"/>
                </a:solidFill>
                <a:latin typeface="Aptos"/>
                <a:ea typeface="Aptos"/>
                <a:cs typeface="Aptos"/>
              </a:rPr>
              <a:t>PANORAMA</a:t>
            </a:r>
          </a:p>
          <a:p xmlns:a="http://schemas.openxmlformats.org/drawingml/2006/main">
            <a:pPr algn="l">
              <a:defRPr sz="5475" b="1">
                <a:solidFill>
                  <a:srgbClr val="F8FCFD"/>
                </a:solidFill>
                <a:latin typeface="Aptos"/>
                <a:ea typeface="Aptos"/>
                <a:cs typeface="Aptos"/>
              </a:defRPr>
            </a:pPr>
            <a:r>
              <a:rPr sz="5475" b="1">
                <a:solidFill>
                  <a:srgbClr val="F8FCFD"/>
                </a:solidFill>
                <a:latin typeface="Aptos"/>
                <a:ea typeface="Aptos"/>
                <a:cs typeface="Aptos"/>
              </a:rPr>
              <a:t>HOTEL</a:t>
            </a:r>
          </a:p>
        </p:txBody>
      </p:sp>
      <p:sp>
        <p:nvSpPr>
          <p:cNvPr id="3" name="">
            <a:extLst xmlns:a="http://schemas.openxmlformats.org/drawingml/2006/main">
              <a:ext uri="{FF2B5EF4-FFF2-40B4-BE49-F238E27FC236}">
                <a16:creationId xmlns:a16="http://schemas.microsoft.com/office/drawing/2014/main" id="{25900D10-FE1C-44A7-8053-28FC1C7FDF98}"/>
              </a:ext>
            </a:extLst>
          </p:cNvPr>
          <p:cNvSpPr>
            <a:spLocks xmlns:a="http://schemas.openxmlformats.org/drawingml/2006/main" noGrp="1"/>
          </p:cNvSpPr>
          <p:nvPr/>
        </p:nvSpPr>
        <p:spPr>
          <a:xfrm xmlns:a="http://schemas.openxmlformats.org/drawingml/2006/main">
            <a:off x="714375" y="2857500"/>
            <a:ext cx="4762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BDEEF3"/>
                </a:solidFill>
                <a:latin typeface="Aptos"/>
                <a:ea typeface="Aptos"/>
                <a:cs typeface="Aptos"/>
              </a:defRPr>
            </a:pPr>
            <a:r>
              <a:rPr sz="2250" b="0">
                <a:solidFill>
                  <a:srgbClr val="BDEEF3"/>
                </a:solidFill>
                <a:latin typeface="Aptos"/>
                <a:ea typeface="Aptos"/>
                <a:cs typeface="Aptos"/>
              </a:rPr>
              <a:t>Network infrastructure</a:t>
            </a:r>
          </a:p>
        </p:txBody>
      </p:sp>
      <p:sp>
        <p:nvSpPr>
          <p:cNvPr id="4" name="">
            <a:extLst xmlns:a="http://schemas.openxmlformats.org/drawingml/2006/main">
              <a:ext uri="{FF2B5EF4-FFF2-40B4-BE49-F238E27FC236}">
                <a16:creationId xmlns:a16="http://schemas.microsoft.com/office/drawing/2014/main" id="{B9857A7E-C6D2-4699-8A77-FF5FC20E906D}"/>
              </a:ext>
            </a:extLst>
          </p:cNvPr>
          <p:cNvSpPr>
            <a:spLocks xmlns:a="http://schemas.openxmlformats.org/drawingml/2006/main" noGrp="1"/>
          </p:cNvSpPr>
          <p:nvPr/>
        </p:nvSpPr>
        <p:spPr>
          <a:xfrm xmlns:a="http://schemas.openxmlformats.org/drawingml/2006/main">
            <a:off x="714375" y="60007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F8FCFD"/>
                </a:solidFill>
                <a:latin typeface="Aptos"/>
                <a:ea typeface="Aptos"/>
                <a:cs typeface="Aptos"/>
              </a:defRPr>
            </a:pPr>
            <a:r>
              <a:rPr sz="1500" b="0">
                <a:solidFill>
                  <a:srgbClr val="F8FCFD"/>
                </a:solidFill>
                <a:latin typeface="Aptos"/>
                <a:ea typeface="Aptos"/>
                <a:cs typeface="Aptos"/>
              </a:rPr>
              <a:t>CCNA project presentation</a:t>
            </a:r>
          </a:p>
        </p:txBody>
      </p:sp>
    </p:spTree>
    <p:extLst>
      <p:ext uri="{BB962C8B-B14F-4D97-AF65-F5344CB8AC3E}">
        <p14:creationId xmlns:p14="http://schemas.microsoft.com/office/powerpoint/2010/main" val="2039309337"/>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5D26B7-CE82-4943-A342-91157220410A}"/>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Two buildings, one service network</a:t>
            </a:r>
          </a:p>
        </p:txBody>
      </p:sp>
      <p:sp>
        <p:nvSpPr>
          <p:cNvPr id="2" name="">
            <a:extLst xmlns:a="http://schemas.openxmlformats.org/drawingml/2006/main">
              <a:ext uri="{FF2B5EF4-FFF2-40B4-BE49-F238E27FC236}">
                <a16:creationId xmlns:a16="http://schemas.microsoft.com/office/drawing/2014/main" id="{C8E72515-F231-4CFC-B7B0-7935B0BF17FC}"/>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64FAE9-DA87-4E6D-96BF-9772F732BF5F}"/>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46D60032-D9F3-4D38-B4C4-A3DF646D839E}"/>
              </a:ext>
            </a:extLst>
          </p:cNvPr>
          <p:cNvSpPr>
            <a:spLocks xmlns:a="http://schemas.openxmlformats.org/drawingml/2006/main" noGrp="1"/>
          </p:cNvSpPr>
          <p:nvPr/>
        </p:nvSpPr>
        <p:spPr>
          <a:xfrm xmlns:a="http://schemas.openxmlformats.org/drawingml/2006/main">
            <a:off x="933450" y="2095500"/>
            <a:ext cx="2857500" cy="1428750"/>
          </a:xfrm>
          <a:prstGeom xmlns:a="http://schemas.openxmlformats.org/drawingml/2006/main" prst="roundRect">
            <a:avLst>
              <a:gd name="adj" fmla="val 9333"/>
            </a:avLst>
          </a:prstGeom>
          <a:solidFill xmlns:a="http://schemas.openxmlformats.org/drawingml/2006/main">
            <a:srgbClr val="EAF6F8"/>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222DEE03-83FB-4380-B0DD-CA2E243CBB87}"/>
              </a:ext>
            </a:extLst>
          </p:cNvPr>
          <p:cNvSpPr>
            <a:spLocks xmlns:a="http://schemas.openxmlformats.org/drawingml/2006/main" noGrp="1"/>
          </p:cNvSpPr>
          <p:nvPr/>
        </p:nvSpPr>
        <p:spPr>
          <a:xfrm xmlns:a="http://schemas.openxmlformats.org/drawingml/2006/main">
            <a:off x="1047750" y="2171700"/>
            <a:ext cx="26289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Building A</a:t>
            </a:r>
          </a:p>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Departments</a:t>
            </a:r>
          </a:p>
        </p:txBody>
      </p:sp>
      <p:sp>
        <p:nvSpPr>
          <p:cNvPr id="6" name="">
            <a:extLst xmlns:a="http://schemas.openxmlformats.org/drawingml/2006/main">
              <a:ext uri="{FF2B5EF4-FFF2-40B4-BE49-F238E27FC236}">
                <a16:creationId xmlns:a16="http://schemas.microsoft.com/office/drawing/2014/main" id="{EC2D62D7-D77C-4C48-8671-8431B578CA3B}"/>
              </a:ext>
            </a:extLst>
          </p:cNvPr>
          <p:cNvSpPr>
            <a:spLocks xmlns:a="http://schemas.openxmlformats.org/drawingml/2006/main" noGrp="1"/>
          </p:cNvSpPr>
          <p:nvPr/>
        </p:nvSpPr>
        <p:spPr>
          <a:xfrm xmlns:a="http://schemas.openxmlformats.org/drawingml/2006/main">
            <a:off x="4686300" y="2095500"/>
            <a:ext cx="2857500" cy="1428750"/>
          </a:xfrm>
          <a:prstGeom xmlns:a="http://schemas.openxmlformats.org/drawingml/2006/main" prst="roundRect">
            <a:avLst>
              <a:gd name="adj" fmla="val 9333"/>
            </a:avLst>
          </a:prstGeom>
          <a:solidFill xmlns:a="http://schemas.openxmlformats.org/drawingml/2006/main">
            <a:srgbClr val="EFF8F3"/>
          </a:solidFill>
          <a:ln xmlns:a="http://schemas.openxmlformats.org/drawingml/2006/main" w="9525">
            <a:solidFill>
              <a:srgbClr val="48CBAA"/>
            </a:solidFill>
            <a:prstDash val="solid"/>
          </a:ln>
        </p:spPr>
      </p:sp>
      <p:sp>
        <p:nvSpPr>
          <p:cNvPr id="7" name="">
            <a:extLst xmlns:a="http://schemas.openxmlformats.org/drawingml/2006/main">
              <a:ext uri="{FF2B5EF4-FFF2-40B4-BE49-F238E27FC236}">
                <a16:creationId xmlns:a16="http://schemas.microsoft.com/office/drawing/2014/main" id="{AD4F404F-5A6A-4537-A379-628D21658528}"/>
              </a:ext>
            </a:extLst>
          </p:cNvPr>
          <p:cNvSpPr>
            <a:spLocks xmlns:a="http://schemas.openxmlformats.org/drawingml/2006/main" noGrp="1"/>
          </p:cNvSpPr>
          <p:nvPr/>
        </p:nvSpPr>
        <p:spPr>
          <a:xfrm xmlns:a="http://schemas.openxmlformats.org/drawingml/2006/main">
            <a:off x="4800600" y="2171700"/>
            <a:ext cx="26289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Shared</a:t>
            </a:r>
          </a:p>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services</a:t>
            </a:r>
          </a:p>
        </p:txBody>
      </p:sp>
      <p:sp>
        <p:nvSpPr>
          <p:cNvPr id="8" name="">
            <a:extLst xmlns:a="http://schemas.openxmlformats.org/drawingml/2006/main">
              <a:ext uri="{FF2B5EF4-FFF2-40B4-BE49-F238E27FC236}">
                <a16:creationId xmlns:a16="http://schemas.microsoft.com/office/drawing/2014/main" id="{E08EC956-A168-4CA3-9774-D0B61435AE1E}"/>
              </a:ext>
            </a:extLst>
          </p:cNvPr>
          <p:cNvSpPr>
            <a:spLocks xmlns:a="http://schemas.openxmlformats.org/drawingml/2006/main" noGrp="1"/>
          </p:cNvSpPr>
          <p:nvPr/>
        </p:nvSpPr>
        <p:spPr>
          <a:xfrm xmlns:a="http://schemas.openxmlformats.org/drawingml/2006/main">
            <a:off x="8439150" y="2095500"/>
            <a:ext cx="2857500" cy="1428750"/>
          </a:xfrm>
          <a:prstGeom xmlns:a="http://schemas.openxmlformats.org/drawingml/2006/main" prst="roundRect">
            <a:avLst>
              <a:gd name="adj" fmla="val 9333"/>
            </a:avLst>
          </a:prstGeom>
          <a:solidFill xmlns:a="http://schemas.openxmlformats.org/drawingml/2006/main">
            <a:srgbClr val="EAF6F8"/>
          </a:solidFill>
          <a:ln xmlns:a="http://schemas.openxmlformats.org/drawingml/2006/main" w="9525">
            <a:solidFill>
              <a:srgbClr val="2089C4"/>
            </a:solidFill>
            <a:prstDash val="solid"/>
          </a:ln>
        </p:spPr>
      </p:sp>
      <p:sp>
        <p:nvSpPr>
          <p:cNvPr id="9" name="">
            <a:extLst xmlns:a="http://schemas.openxmlformats.org/drawingml/2006/main">
              <a:ext uri="{FF2B5EF4-FFF2-40B4-BE49-F238E27FC236}">
                <a16:creationId xmlns:a16="http://schemas.microsoft.com/office/drawing/2014/main" id="{AA83B8DD-286C-4A0E-981F-382E0A8838AB}"/>
              </a:ext>
            </a:extLst>
          </p:cNvPr>
          <p:cNvSpPr>
            <a:spLocks xmlns:a="http://schemas.openxmlformats.org/drawingml/2006/main" noGrp="1"/>
          </p:cNvSpPr>
          <p:nvPr/>
        </p:nvSpPr>
        <p:spPr>
          <a:xfrm xmlns:a="http://schemas.openxmlformats.org/drawingml/2006/main">
            <a:off x="8553450" y="2171700"/>
            <a:ext cx="26289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Building B</a:t>
            </a:r>
          </a:p>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Departments</a:t>
            </a:r>
          </a:p>
        </p:txBody>
      </p:sp>
      <p:sp>
        <p:nvSpPr>
          <p:cNvPr id="10" name="">
            <a:extLst xmlns:a="http://schemas.openxmlformats.org/drawingml/2006/main">
              <a:ext uri="{FF2B5EF4-FFF2-40B4-BE49-F238E27FC236}">
                <a16:creationId xmlns:a16="http://schemas.microsoft.com/office/drawing/2014/main" id="{B6D3FE97-210A-42C0-B80E-1A7D9D8B242B}"/>
              </a:ext>
            </a:extLst>
          </p:cNvPr>
          <p:cNvSpPr>
            <a:spLocks xmlns:a="http://schemas.openxmlformats.org/drawingml/2006/main" noGrp="1"/>
          </p:cNvSpPr>
          <p:nvPr/>
        </p:nvSpPr>
        <p:spPr>
          <a:xfrm xmlns:a="http://schemas.openxmlformats.org/drawingml/2006/main">
            <a:off x="3933825" y="2590800"/>
            <a:ext cx="571500" cy="400050"/>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98D3EE-C943-49FA-BDEB-C3CE983863FF}"/>
              </a:ext>
            </a:extLst>
          </p:cNvPr>
          <p:cNvSpPr>
            <a:spLocks xmlns:a="http://schemas.openxmlformats.org/drawingml/2006/main" noGrp="1"/>
          </p:cNvSpPr>
          <p:nvPr/>
        </p:nvSpPr>
        <p:spPr>
          <a:xfrm xmlns:a="http://schemas.openxmlformats.org/drawingml/2006/main">
            <a:off x="7667625" y="2590800"/>
            <a:ext cx="571500" cy="400050"/>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A56279B-F394-499F-8CBF-6F3C8717346A}"/>
              </a:ext>
            </a:extLst>
          </p:cNvPr>
          <p:cNvSpPr>
            <a:spLocks xmlns:a="http://schemas.openxmlformats.org/drawingml/2006/main" noGrp="1"/>
          </p:cNvSpPr>
          <p:nvPr/>
        </p:nvSpPr>
        <p:spPr>
          <a:xfrm xmlns:a="http://schemas.openxmlformats.org/drawingml/2006/main">
            <a:off x="1190625" y="4457700"/>
            <a:ext cx="9810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5E7485"/>
                </a:solidFill>
                <a:latin typeface="Aptos"/>
                <a:ea typeface="Aptos"/>
                <a:cs typeface="Aptos"/>
              </a:defRPr>
            </a:pPr>
            <a:r>
              <a:rPr sz="1950" b="0">
                <a:solidFill>
                  <a:srgbClr val="5E7485"/>
                </a:solidFill>
                <a:latin typeface="Aptos"/>
                <a:ea typeface="Aptos"/>
                <a:cs typeface="Aptos"/>
              </a:rPr>
              <a:t>Staff, devices and wireless users can use the same central services.</a:t>
            </a:r>
          </a:p>
        </p:txBody>
      </p:sp>
    </p:spTree>
    <p:extLst>
      <p:ext uri="{BB962C8B-B14F-4D97-AF65-F5344CB8AC3E}">
        <p14:creationId xmlns:p14="http://schemas.microsoft.com/office/powerpoint/2010/main" val="1303577403"/>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B369CA-5750-41CC-BF16-E05214AB49D0}"/>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Network architecture</a:t>
            </a:r>
          </a:p>
        </p:txBody>
      </p:sp>
      <p:sp>
        <p:nvSpPr>
          <p:cNvPr id="2" name="">
            <a:extLst xmlns:a="http://schemas.openxmlformats.org/drawingml/2006/main">
              <a:ext uri="{FF2B5EF4-FFF2-40B4-BE49-F238E27FC236}">
                <a16:creationId xmlns:a16="http://schemas.microsoft.com/office/drawing/2014/main" id="{0892396C-5FD7-479F-91C5-98BA704ECA4C}"/>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393D8C1-E754-4239-8025-C0EA430F8ABB}"/>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B873F806-B471-44D9-A429-53D281AC0F6D}"/>
              </a:ext>
            </a:extLst>
          </p:cNvPr>
          <p:cNvSpPr>
            <a:spLocks xmlns:a="http://schemas.openxmlformats.org/drawingml/2006/main" noGrp="1"/>
          </p:cNvSpPr>
          <p:nvPr/>
        </p:nvSpPr>
        <p:spPr>
          <a:xfrm xmlns:a="http://schemas.openxmlformats.org/drawingml/2006/main">
            <a:off x="876300" y="2381250"/>
            <a:ext cx="2190750" cy="1238250"/>
          </a:xfrm>
          <a:prstGeom xmlns:a="http://schemas.openxmlformats.org/drawingml/2006/main" prst="roundRect">
            <a:avLst>
              <a:gd name="adj" fmla="val 10769"/>
            </a:avLst>
          </a:prstGeom>
          <a:solidFill xmlns:a="http://schemas.openxmlformats.org/drawingml/2006/main">
            <a:srgbClr val="F8FCFD"/>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C6977582-A8B0-41C9-9AEA-717EBD02A700}"/>
              </a:ext>
            </a:extLst>
          </p:cNvPr>
          <p:cNvSpPr>
            <a:spLocks xmlns:a="http://schemas.openxmlformats.org/drawingml/2006/main" noGrp="1"/>
          </p:cNvSpPr>
          <p:nvPr/>
        </p:nvSpPr>
        <p:spPr>
          <a:xfrm xmlns:a="http://schemas.openxmlformats.org/drawingml/2006/main">
            <a:off x="990600" y="2457450"/>
            <a:ext cx="19621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Users + APs</a:t>
            </a:r>
          </a:p>
        </p:txBody>
      </p:sp>
      <p:sp>
        <p:nvSpPr>
          <p:cNvPr id="6" name="">
            <a:extLst xmlns:a="http://schemas.openxmlformats.org/drawingml/2006/main">
              <a:ext uri="{FF2B5EF4-FFF2-40B4-BE49-F238E27FC236}">
                <a16:creationId xmlns:a16="http://schemas.microsoft.com/office/drawing/2014/main" id="{D50E6DDF-791D-492E-84EF-602ABC10526F}"/>
              </a:ext>
            </a:extLst>
          </p:cNvPr>
          <p:cNvSpPr>
            <a:spLocks xmlns:a="http://schemas.openxmlformats.org/drawingml/2006/main" noGrp="1"/>
          </p:cNvSpPr>
          <p:nvPr/>
        </p:nvSpPr>
        <p:spPr>
          <a:xfrm xmlns:a="http://schemas.openxmlformats.org/drawingml/2006/main">
            <a:off x="3143250" y="2790825"/>
            <a:ext cx="352425" cy="342900"/>
          </a:xfrm>
          <a:prstGeom xmlns:a="http://schemas.openxmlformats.org/drawingml/2006/main" prst="rightArrow">
            <a:avLst/>
          </a:prstGeom>
          <a:solidFill xmlns:a="http://schemas.openxmlformats.org/drawingml/2006/main">
            <a:srgbClr val="2089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4AEBA29-0470-4451-AB3A-B92D282A6560}"/>
              </a:ext>
            </a:extLst>
          </p:cNvPr>
          <p:cNvSpPr>
            <a:spLocks xmlns:a="http://schemas.openxmlformats.org/drawingml/2006/main" noGrp="1"/>
          </p:cNvSpPr>
          <p:nvPr/>
        </p:nvSpPr>
        <p:spPr>
          <a:xfrm xmlns:a="http://schemas.openxmlformats.org/drawingml/2006/main">
            <a:off x="3581400" y="2381250"/>
            <a:ext cx="2190750" cy="1238250"/>
          </a:xfrm>
          <a:prstGeom xmlns:a="http://schemas.openxmlformats.org/drawingml/2006/main" prst="roundRect">
            <a:avLst>
              <a:gd name="adj" fmla="val 10769"/>
            </a:avLst>
          </a:prstGeom>
          <a:solidFill xmlns:a="http://schemas.openxmlformats.org/drawingml/2006/main">
            <a:srgbClr val="F8FCFD"/>
          </a:solidFill>
          <a:ln xmlns:a="http://schemas.openxmlformats.org/drawingml/2006/main" w="9525">
            <a:solidFill>
              <a:srgbClr val="18CBE2"/>
            </a:solidFill>
            <a:prstDash val="solid"/>
          </a:ln>
        </p:spPr>
      </p:sp>
      <p:sp>
        <p:nvSpPr>
          <p:cNvPr id="8" name="">
            <a:extLst xmlns:a="http://schemas.openxmlformats.org/drawingml/2006/main">
              <a:ext uri="{FF2B5EF4-FFF2-40B4-BE49-F238E27FC236}">
                <a16:creationId xmlns:a16="http://schemas.microsoft.com/office/drawing/2014/main" id="{94EE19A3-3E7E-4EA7-9B6A-4099E41AC6B5}"/>
              </a:ext>
            </a:extLst>
          </p:cNvPr>
          <p:cNvSpPr>
            <a:spLocks xmlns:a="http://schemas.openxmlformats.org/drawingml/2006/main" noGrp="1"/>
          </p:cNvSpPr>
          <p:nvPr/>
        </p:nvSpPr>
        <p:spPr>
          <a:xfrm xmlns:a="http://schemas.openxmlformats.org/drawingml/2006/main">
            <a:off x="3695700" y="2457450"/>
            <a:ext cx="19621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2960 access</a:t>
            </a:r>
          </a:p>
        </p:txBody>
      </p:sp>
      <p:sp>
        <p:nvSpPr>
          <p:cNvPr id="9" name="">
            <a:extLst xmlns:a="http://schemas.openxmlformats.org/drawingml/2006/main">
              <a:ext uri="{FF2B5EF4-FFF2-40B4-BE49-F238E27FC236}">
                <a16:creationId xmlns:a16="http://schemas.microsoft.com/office/drawing/2014/main" id="{467CBFE5-B143-43E4-97BA-24218F9F99C3}"/>
              </a:ext>
            </a:extLst>
          </p:cNvPr>
          <p:cNvSpPr>
            <a:spLocks xmlns:a="http://schemas.openxmlformats.org/drawingml/2006/main" noGrp="1"/>
          </p:cNvSpPr>
          <p:nvPr/>
        </p:nvSpPr>
        <p:spPr>
          <a:xfrm xmlns:a="http://schemas.openxmlformats.org/drawingml/2006/main">
            <a:off x="5848350" y="2790825"/>
            <a:ext cx="352425" cy="342900"/>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06FE20B-BE01-47C2-9389-1205E12B3FA9}"/>
              </a:ext>
            </a:extLst>
          </p:cNvPr>
          <p:cNvSpPr>
            <a:spLocks xmlns:a="http://schemas.openxmlformats.org/drawingml/2006/main" noGrp="1"/>
          </p:cNvSpPr>
          <p:nvPr/>
        </p:nvSpPr>
        <p:spPr>
          <a:xfrm xmlns:a="http://schemas.openxmlformats.org/drawingml/2006/main">
            <a:off x="6286500" y="2381250"/>
            <a:ext cx="2190750" cy="1238250"/>
          </a:xfrm>
          <a:prstGeom xmlns:a="http://schemas.openxmlformats.org/drawingml/2006/main" prst="roundRect">
            <a:avLst>
              <a:gd name="adj" fmla="val 10769"/>
            </a:avLst>
          </a:prstGeom>
          <a:solidFill xmlns:a="http://schemas.openxmlformats.org/drawingml/2006/main">
            <a:srgbClr val="F8FCFD"/>
          </a:solidFill>
          <a:ln xmlns:a="http://schemas.openxmlformats.org/drawingml/2006/main" w="9525">
            <a:solidFill>
              <a:srgbClr val="48CBAA"/>
            </a:solidFill>
            <a:prstDash val="solid"/>
          </a:ln>
        </p:spPr>
      </p:sp>
      <p:sp>
        <p:nvSpPr>
          <p:cNvPr id="11" name="">
            <a:extLst xmlns:a="http://schemas.openxmlformats.org/drawingml/2006/main">
              <a:ext uri="{FF2B5EF4-FFF2-40B4-BE49-F238E27FC236}">
                <a16:creationId xmlns:a16="http://schemas.microsoft.com/office/drawing/2014/main" id="{77278DFA-6D2C-490D-B54A-C81CD0F12E89}"/>
              </a:ext>
            </a:extLst>
          </p:cNvPr>
          <p:cNvSpPr>
            <a:spLocks xmlns:a="http://schemas.openxmlformats.org/drawingml/2006/main" noGrp="1"/>
          </p:cNvSpPr>
          <p:nvPr/>
        </p:nvSpPr>
        <p:spPr>
          <a:xfrm xmlns:a="http://schemas.openxmlformats.org/drawingml/2006/main">
            <a:off x="6400800" y="2457450"/>
            <a:ext cx="19621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3650 routing</a:t>
            </a:r>
          </a:p>
        </p:txBody>
      </p:sp>
      <p:sp>
        <p:nvSpPr>
          <p:cNvPr id="12" name="">
            <a:extLst xmlns:a="http://schemas.openxmlformats.org/drawingml/2006/main">
              <a:ext uri="{FF2B5EF4-FFF2-40B4-BE49-F238E27FC236}">
                <a16:creationId xmlns:a16="http://schemas.microsoft.com/office/drawing/2014/main" id="{374CFE2C-CFE8-4AFE-8EA4-258BEFB75BDB}"/>
              </a:ext>
            </a:extLst>
          </p:cNvPr>
          <p:cNvSpPr>
            <a:spLocks xmlns:a="http://schemas.openxmlformats.org/drawingml/2006/main" noGrp="1"/>
          </p:cNvSpPr>
          <p:nvPr/>
        </p:nvSpPr>
        <p:spPr>
          <a:xfrm xmlns:a="http://schemas.openxmlformats.org/drawingml/2006/main">
            <a:off x="8553450" y="2790825"/>
            <a:ext cx="352425" cy="342900"/>
          </a:xfrm>
          <a:prstGeom xmlns:a="http://schemas.openxmlformats.org/drawingml/2006/main" prst="rightArrow">
            <a:avLst/>
          </a:prstGeom>
          <a:solidFill xmlns:a="http://schemas.openxmlformats.org/drawingml/2006/main">
            <a:srgbClr val="48CBA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4F0454-B901-4E99-9020-3D4CA02DB614}"/>
              </a:ext>
            </a:extLst>
          </p:cNvPr>
          <p:cNvSpPr>
            <a:spLocks xmlns:a="http://schemas.openxmlformats.org/drawingml/2006/main" noGrp="1"/>
          </p:cNvSpPr>
          <p:nvPr/>
        </p:nvSpPr>
        <p:spPr>
          <a:xfrm xmlns:a="http://schemas.openxmlformats.org/drawingml/2006/main">
            <a:off x="8991600" y="2381250"/>
            <a:ext cx="2190750" cy="1238250"/>
          </a:xfrm>
          <a:prstGeom xmlns:a="http://schemas.openxmlformats.org/drawingml/2006/main" prst="roundRect">
            <a:avLst>
              <a:gd name="adj" fmla="val 10769"/>
            </a:avLst>
          </a:prstGeom>
          <a:solidFill xmlns:a="http://schemas.openxmlformats.org/drawingml/2006/main">
            <a:srgbClr val="F8FCFD"/>
          </a:solidFill>
          <a:ln xmlns:a="http://schemas.openxmlformats.org/drawingml/2006/main" w="9525">
            <a:solidFill>
              <a:srgbClr val="F3B96A"/>
            </a:solidFill>
            <a:prstDash val="solid"/>
          </a:ln>
        </p:spPr>
      </p:sp>
      <p:sp>
        <p:nvSpPr>
          <p:cNvPr id="14" name="">
            <a:extLst xmlns:a="http://schemas.openxmlformats.org/drawingml/2006/main">
              <a:ext uri="{FF2B5EF4-FFF2-40B4-BE49-F238E27FC236}">
                <a16:creationId xmlns:a16="http://schemas.microsoft.com/office/drawing/2014/main" id="{B5BA5DD6-B79F-4874-994A-E0CDF60EEBB8}"/>
              </a:ext>
            </a:extLst>
          </p:cNvPr>
          <p:cNvSpPr>
            <a:spLocks xmlns:a="http://schemas.openxmlformats.org/drawingml/2006/main" noGrp="1"/>
          </p:cNvSpPr>
          <p:nvPr/>
        </p:nvSpPr>
        <p:spPr>
          <a:xfrm xmlns:a="http://schemas.openxmlformats.org/drawingml/2006/main">
            <a:off x="9105900" y="2457450"/>
            <a:ext cx="19621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Services + edge</a:t>
            </a:r>
          </a:p>
        </p:txBody>
      </p:sp>
      <p:sp>
        <p:nvSpPr>
          <p:cNvPr id="15" name="">
            <a:extLst xmlns:a="http://schemas.openxmlformats.org/drawingml/2006/main">
              <a:ext uri="{FF2B5EF4-FFF2-40B4-BE49-F238E27FC236}">
                <a16:creationId xmlns:a16="http://schemas.microsoft.com/office/drawing/2014/main" id="{394BAA25-7B66-40E6-8548-2331F72BC869}"/>
              </a:ext>
            </a:extLst>
          </p:cNvPr>
          <p:cNvSpPr>
            <a:spLocks xmlns:a="http://schemas.openxmlformats.org/drawingml/2006/main" noGrp="1"/>
          </p:cNvSpPr>
          <p:nvPr/>
        </p:nvSpPr>
        <p:spPr>
          <a:xfrm xmlns:a="http://schemas.openxmlformats.org/drawingml/2006/main">
            <a:off x="1524000" y="4333875"/>
            <a:ext cx="914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5E7485"/>
                </a:solidFill>
                <a:latin typeface="Aptos"/>
                <a:ea typeface="Aptos"/>
                <a:cs typeface="Aptos"/>
              </a:defRPr>
            </a:pPr>
            <a:r>
              <a:rPr sz="1800" b="0">
                <a:solidFill>
                  <a:srgbClr val="5E7485"/>
                </a:solidFill>
                <a:latin typeface="Aptos"/>
                <a:ea typeface="Aptos"/>
                <a:cs typeface="Aptos"/>
              </a:rPr>
              <a:t>A simplified view of the saved design</a:t>
            </a:r>
          </a:p>
        </p:txBody>
      </p:sp>
    </p:spTree>
    <p:extLst>
      <p:ext uri="{BB962C8B-B14F-4D97-AF65-F5344CB8AC3E}">
        <p14:creationId xmlns:p14="http://schemas.microsoft.com/office/powerpoint/2010/main" val="443510108"/>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B8D4E09-99A4-45EE-B044-CAA14290C349}"/>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VLANs separate departments</a:t>
            </a:r>
          </a:p>
        </p:txBody>
      </p:sp>
      <p:sp>
        <p:nvSpPr>
          <p:cNvPr id="2" name="">
            <a:extLst xmlns:a="http://schemas.openxmlformats.org/drawingml/2006/main">
              <a:ext uri="{FF2B5EF4-FFF2-40B4-BE49-F238E27FC236}">
                <a16:creationId xmlns:a16="http://schemas.microsoft.com/office/drawing/2014/main" id="{3724E619-43FD-4AC1-AABD-8322D3BC904E}"/>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A034CE7-E26C-4446-8878-7E93F6D98FD4}"/>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673B091D-A8E2-4609-888C-B3BD5C96DC38}"/>
              </a:ext>
            </a:extLst>
          </p:cNvPr>
          <p:cNvSpPr>
            <a:spLocks xmlns:a="http://schemas.openxmlformats.org/drawingml/2006/main" noGrp="1"/>
          </p:cNvSpPr>
          <p:nvPr/>
        </p:nvSpPr>
        <p:spPr>
          <a:xfrm xmlns:a="http://schemas.openxmlformats.org/drawingml/2006/main">
            <a:off x="904875" y="1743075"/>
            <a:ext cx="123825" cy="666750"/>
          </a:xfrm>
          <a:prstGeom xmlns:a="http://schemas.openxmlformats.org/drawingml/2006/main" prst="rect">
            <a:avLst/>
          </a:prstGeom>
          <a:solidFill xmlns:a="http://schemas.openxmlformats.org/drawingml/2006/main">
            <a:srgbClr val="2089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D0CE6AD-07AF-41C3-87E1-2630EF10EB87}"/>
              </a:ext>
            </a:extLst>
          </p:cNvPr>
          <p:cNvSpPr>
            <a:spLocks xmlns:a="http://schemas.openxmlformats.org/drawingml/2006/main" noGrp="1"/>
          </p:cNvSpPr>
          <p:nvPr/>
        </p:nvSpPr>
        <p:spPr>
          <a:xfrm xmlns:a="http://schemas.openxmlformats.org/drawingml/2006/main">
            <a:off x="1238250" y="17430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2089C4"/>
                </a:solidFill>
                <a:latin typeface="Aptos"/>
                <a:ea typeface="Aptos"/>
                <a:cs typeface="Aptos"/>
              </a:defRPr>
            </a:pPr>
            <a:r>
              <a:rPr sz="1950" b="1">
                <a:solidFill>
                  <a:srgbClr val="2089C4"/>
                </a:solidFill>
                <a:latin typeface="Aptos"/>
                <a:ea typeface="Aptos"/>
                <a:cs typeface="Aptos"/>
              </a:rPr>
              <a:t>VLAN 10</a:t>
            </a:r>
          </a:p>
        </p:txBody>
      </p:sp>
      <p:sp>
        <p:nvSpPr>
          <p:cNvPr id="6" name="">
            <a:extLst xmlns:a="http://schemas.openxmlformats.org/drawingml/2006/main">
              <a:ext uri="{FF2B5EF4-FFF2-40B4-BE49-F238E27FC236}">
                <a16:creationId xmlns:a16="http://schemas.microsoft.com/office/drawing/2014/main" id="{5592CDCF-59E9-4BF5-A965-39279651C61A}"/>
              </a:ext>
            </a:extLst>
          </p:cNvPr>
          <p:cNvSpPr>
            <a:spLocks xmlns:a="http://schemas.openxmlformats.org/drawingml/2006/main" noGrp="1"/>
          </p:cNvSpPr>
          <p:nvPr/>
        </p:nvSpPr>
        <p:spPr>
          <a:xfrm xmlns:a="http://schemas.openxmlformats.org/drawingml/2006/main">
            <a:off x="2952750" y="17430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Reception</a:t>
            </a:r>
          </a:p>
        </p:txBody>
      </p:sp>
      <p:sp>
        <p:nvSpPr>
          <p:cNvPr id="7" name="">
            <a:extLst xmlns:a="http://schemas.openxmlformats.org/drawingml/2006/main">
              <a:ext uri="{FF2B5EF4-FFF2-40B4-BE49-F238E27FC236}">
                <a16:creationId xmlns:a16="http://schemas.microsoft.com/office/drawing/2014/main" id="{0E4A9B10-D935-407A-B43F-676439D5B1F8}"/>
              </a:ext>
            </a:extLst>
          </p:cNvPr>
          <p:cNvSpPr>
            <a:spLocks xmlns:a="http://schemas.openxmlformats.org/drawingml/2006/main" noGrp="1"/>
          </p:cNvSpPr>
          <p:nvPr/>
        </p:nvSpPr>
        <p:spPr>
          <a:xfrm xmlns:a="http://schemas.openxmlformats.org/drawingml/2006/main">
            <a:off x="904875" y="2771775"/>
            <a:ext cx="123825" cy="666750"/>
          </a:xfrm>
          <a:prstGeom xmlns:a="http://schemas.openxmlformats.org/drawingml/2006/main" prst="rect">
            <a:avLst/>
          </a:prstGeom>
          <a:solidFill xmlns:a="http://schemas.openxmlformats.org/drawingml/2006/main">
            <a:srgbClr val="48CBA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6A949D5-AE35-41FC-B0F8-BA0C3F5D04FC}"/>
              </a:ext>
            </a:extLst>
          </p:cNvPr>
          <p:cNvSpPr>
            <a:spLocks xmlns:a="http://schemas.openxmlformats.org/drawingml/2006/main" noGrp="1"/>
          </p:cNvSpPr>
          <p:nvPr/>
        </p:nvSpPr>
        <p:spPr>
          <a:xfrm xmlns:a="http://schemas.openxmlformats.org/drawingml/2006/main">
            <a:off x="1238250" y="27717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48CBAA"/>
                </a:solidFill>
                <a:latin typeface="Aptos"/>
                <a:ea typeface="Aptos"/>
                <a:cs typeface="Aptos"/>
              </a:defRPr>
            </a:pPr>
            <a:r>
              <a:rPr sz="1950" b="1">
                <a:solidFill>
                  <a:srgbClr val="48CBAA"/>
                </a:solidFill>
                <a:latin typeface="Aptos"/>
                <a:ea typeface="Aptos"/>
                <a:cs typeface="Aptos"/>
              </a:rPr>
              <a:t>VLAN 20</a:t>
            </a:r>
          </a:p>
        </p:txBody>
      </p:sp>
      <p:sp>
        <p:nvSpPr>
          <p:cNvPr id="9" name="">
            <a:extLst xmlns:a="http://schemas.openxmlformats.org/drawingml/2006/main">
              <a:ext uri="{FF2B5EF4-FFF2-40B4-BE49-F238E27FC236}">
                <a16:creationId xmlns:a16="http://schemas.microsoft.com/office/drawing/2014/main" id="{349B3797-6924-4C27-A60A-AC54A01543E7}"/>
              </a:ext>
            </a:extLst>
          </p:cNvPr>
          <p:cNvSpPr>
            <a:spLocks xmlns:a="http://schemas.openxmlformats.org/drawingml/2006/main" noGrp="1"/>
          </p:cNvSpPr>
          <p:nvPr/>
        </p:nvSpPr>
        <p:spPr>
          <a:xfrm xmlns:a="http://schemas.openxmlformats.org/drawingml/2006/main">
            <a:off x="2952750" y="27717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Accounts</a:t>
            </a:r>
          </a:p>
        </p:txBody>
      </p:sp>
      <p:sp>
        <p:nvSpPr>
          <p:cNvPr id="10" name="">
            <a:extLst xmlns:a="http://schemas.openxmlformats.org/drawingml/2006/main">
              <a:ext uri="{FF2B5EF4-FFF2-40B4-BE49-F238E27FC236}">
                <a16:creationId xmlns:a16="http://schemas.microsoft.com/office/drawing/2014/main" id="{27FE4EA8-D1CE-44DA-B050-9DAD43F0D09A}"/>
              </a:ext>
            </a:extLst>
          </p:cNvPr>
          <p:cNvSpPr>
            <a:spLocks xmlns:a="http://schemas.openxmlformats.org/drawingml/2006/main" noGrp="1"/>
          </p:cNvSpPr>
          <p:nvPr/>
        </p:nvSpPr>
        <p:spPr>
          <a:xfrm xmlns:a="http://schemas.openxmlformats.org/drawingml/2006/main">
            <a:off x="904875" y="3800475"/>
            <a:ext cx="123825" cy="666750"/>
          </a:xfrm>
          <a:prstGeom xmlns:a="http://schemas.openxmlformats.org/drawingml/2006/main" prst="rect">
            <a:avLst/>
          </a:prstGeom>
          <a:solidFill xmlns:a="http://schemas.openxmlformats.org/drawingml/2006/main">
            <a:srgbClr val="B39AE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20E532B-BA1E-4902-9150-2648C8DBF745}"/>
              </a:ext>
            </a:extLst>
          </p:cNvPr>
          <p:cNvSpPr>
            <a:spLocks xmlns:a="http://schemas.openxmlformats.org/drawingml/2006/main" noGrp="1"/>
          </p:cNvSpPr>
          <p:nvPr/>
        </p:nvSpPr>
        <p:spPr>
          <a:xfrm xmlns:a="http://schemas.openxmlformats.org/drawingml/2006/main">
            <a:off x="1238250" y="38004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B39AE4"/>
                </a:solidFill>
                <a:latin typeface="Aptos"/>
                <a:ea typeface="Aptos"/>
                <a:cs typeface="Aptos"/>
              </a:defRPr>
            </a:pPr>
            <a:r>
              <a:rPr sz="1950" b="1">
                <a:solidFill>
                  <a:srgbClr val="B39AE4"/>
                </a:solidFill>
                <a:latin typeface="Aptos"/>
                <a:ea typeface="Aptos"/>
                <a:cs typeface="Aptos"/>
              </a:rPr>
              <a:t>VLAN 30</a:t>
            </a:r>
          </a:p>
        </p:txBody>
      </p:sp>
      <p:sp>
        <p:nvSpPr>
          <p:cNvPr id="12" name="">
            <a:extLst xmlns:a="http://schemas.openxmlformats.org/drawingml/2006/main">
              <a:ext uri="{FF2B5EF4-FFF2-40B4-BE49-F238E27FC236}">
                <a16:creationId xmlns:a16="http://schemas.microsoft.com/office/drawing/2014/main" id="{8C58F0F5-280F-454F-A80B-8A8D5159664C}"/>
              </a:ext>
            </a:extLst>
          </p:cNvPr>
          <p:cNvSpPr>
            <a:spLocks xmlns:a="http://schemas.openxmlformats.org/drawingml/2006/main" noGrp="1"/>
          </p:cNvSpPr>
          <p:nvPr/>
        </p:nvSpPr>
        <p:spPr>
          <a:xfrm xmlns:a="http://schemas.openxmlformats.org/drawingml/2006/main">
            <a:off x="2952750" y="38004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HR</a:t>
            </a:r>
          </a:p>
        </p:txBody>
      </p:sp>
      <p:sp>
        <p:nvSpPr>
          <p:cNvPr id="13" name="">
            <a:extLst xmlns:a="http://schemas.openxmlformats.org/drawingml/2006/main">
              <a:ext uri="{FF2B5EF4-FFF2-40B4-BE49-F238E27FC236}">
                <a16:creationId xmlns:a16="http://schemas.microsoft.com/office/drawing/2014/main" id="{C68EF1A8-ADB3-4BE8-9328-2B6DEA55EA76}"/>
              </a:ext>
            </a:extLst>
          </p:cNvPr>
          <p:cNvSpPr>
            <a:spLocks xmlns:a="http://schemas.openxmlformats.org/drawingml/2006/main" noGrp="1"/>
          </p:cNvSpPr>
          <p:nvPr/>
        </p:nvSpPr>
        <p:spPr>
          <a:xfrm xmlns:a="http://schemas.openxmlformats.org/drawingml/2006/main">
            <a:off x="904875" y="4829175"/>
            <a:ext cx="123825" cy="666750"/>
          </a:xfrm>
          <a:prstGeom xmlns:a="http://schemas.openxmlformats.org/drawingml/2006/main" prst="rect">
            <a:avLst/>
          </a:prstGeom>
          <a:solidFill xmlns:a="http://schemas.openxmlformats.org/drawingml/2006/main">
            <a:srgbClr val="F3B9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C3BE94-362D-4B89-BD11-73A2D4B2FCBF}"/>
              </a:ext>
            </a:extLst>
          </p:cNvPr>
          <p:cNvSpPr>
            <a:spLocks xmlns:a="http://schemas.openxmlformats.org/drawingml/2006/main" noGrp="1"/>
          </p:cNvSpPr>
          <p:nvPr/>
        </p:nvSpPr>
        <p:spPr>
          <a:xfrm xmlns:a="http://schemas.openxmlformats.org/drawingml/2006/main">
            <a:off x="1238250" y="48291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F3B96A"/>
                </a:solidFill>
                <a:latin typeface="Aptos"/>
                <a:ea typeface="Aptos"/>
                <a:cs typeface="Aptos"/>
              </a:defRPr>
            </a:pPr>
            <a:r>
              <a:rPr sz="1950" b="1">
                <a:solidFill>
                  <a:srgbClr val="F3B96A"/>
                </a:solidFill>
                <a:latin typeface="Aptos"/>
                <a:ea typeface="Aptos"/>
                <a:cs typeface="Aptos"/>
              </a:rPr>
              <a:t>VLAN 40</a:t>
            </a:r>
          </a:p>
        </p:txBody>
      </p:sp>
      <p:sp>
        <p:nvSpPr>
          <p:cNvPr id="15" name="">
            <a:extLst xmlns:a="http://schemas.openxmlformats.org/drawingml/2006/main">
              <a:ext uri="{FF2B5EF4-FFF2-40B4-BE49-F238E27FC236}">
                <a16:creationId xmlns:a16="http://schemas.microsoft.com/office/drawing/2014/main" id="{0885BCC2-FE57-4CAD-A3AB-E83B00693996}"/>
              </a:ext>
            </a:extLst>
          </p:cNvPr>
          <p:cNvSpPr>
            <a:spLocks xmlns:a="http://schemas.openxmlformats.org/drawingml/2006/main" noGrp="1"/>
          </p:cNvSpPr>
          <p:nvPr/>
        </p:nvSpPr>
        <p:spPr>
          <a:xfrm xmlns:a="http://schemas.openxmlformats.org/drawingml/2006/main">
            <a:off x="2952750" y="48291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Sales &amp; Marketing</a:t>
            </a:r>
          </a:p>
        </p:txBody>
      </p:sp>
      <p:sp>
        <p:nvSpPr>
          <p:cNvPr id="16" name="">
            <a:extLst xmlns:a="http://schemas.openxmlformats.org/drawingml/2006/main">
              <a:ext uri="{FF2B5EF4-FFF2-40B4-BE49-F238E27FC236}">
                <a16:creationId xmlns:a16="http://schemas.microsoft.com/office/drawing/2014/main" id="{6DAECAE0-B943-474E-B1F2-1078FA335CB1}"/>
              </a:ext>
            </a:extLst>
          </p:cNvPr>
          <p:cNvSpPr>
            <a:spLocks xmlns:a="http://schemas.openxmlformats.org/drawingml/2006/main" noGrp="1"/>
          </p:cNvSpPr>
          <p:nvPr/>
        </p:nvSpPr>
        <p:spPr>
          <a:xfrm xmlns:a="http://schemas.openxmlformats.org/drawingml/2006/main">
            <a:off x="6477000" y="1743075"/>
            <a:ext cx="123825" cy="666750"/>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B811E6B-EEAA-4640-B5D1-82CA1297FA1C}"/>
              </a:ext>
            </a:extLst>
          </p:cNvPr>
          <p:cNvSpPr>
            <a:spLocks xmlns:a="http://schemas.openxmlformats.org/drawingml/2006/main" noGrp="1"/>
          </p:cNvSpPr>
          <p:nvPr/>
        </p:nvSpPr>
        <p:spPr>
          <a:xfrm xmlns:a="http://schemas.openxmlformats.org/drawingml/2006/main">
            <a:off x="6810375" y="17430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18CBE2"/>
                </a:solidFill>
                <a:latin typeface="Aptos"/>
                <a:ea typeface="Aptos"/>
                <a:cs typeface="Aptos"/>
              </a:defRPr>
            </a:pPr>
            <a:r>
              <a:rPr sz="1950" b="1">
                <a:solidFill>
                  <a:srgbClr val="18CBE2"/>
                </a:solidFill>
                <a:latin typeface="Aptos"/>
                <a:ea typeface="Aptos"/>
                <a:cs typeface="Aptos"/>
              </a:rPr>
              <a:t>VLAN 50</a:t>
            </a:r>
          </a:p>
        </p:txBody>
      </p:sp>
      <p:sp>
        <p:nvSpPr>
          <p:cNvPr id="18" name="">
            <a:extLst xmlns:a="http://schemas.openxmlformats.org/drawingml/2006/main">
              <a:ext uri="{FF2B5EF4-FFF2-40B4-BE49-F238E27FC236}">
                <a16:creationId xmlns:a16="http://schemas.microsoft.com/office/drawing/2014/main" id="{761A1001-470C-4E6A-A8A1-4C5BA3DC7083}"/>
              </a:ext>
            </a:extLst>
          </p:cNvPr>
          <p:cNvSpPr>
            <a:spLocks xmlns:a="http://schemas.openxmlformats.org/drawingml/2006/main" noGrp="1"/>
          </p:cNvSpPr>
          <p:nvPr/>
        </p:nvSpPr>
        <p:spPr>
          <a:xfrm xmlns:a="http://schemas.openxmlformats.org/drawingml/2006/main">
            <a:off x="8524875" y="17430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IT</a:t>
            </a:r>
          </a:p>
        </p:txBody>
      </p:sp>
      <p:sp>
        <p:nvSpPr>
          <p:cNvPr id="19" name="">
            <a:extLst xmlns:a="http://schemas.openxmlformats.org/drawingml/2006/main">
              <a:ext uri="{FF2B5EF4-FFF2-40B4-BE49-F238E27FC236}">
                <a16:creationId xmlns:a16="http://schemas.microsoft.com/office/drawing/2014/main" id="{A7279D1B-70F7-4AA5-BA40-81C74513E430}"/>
              </a:ext>
            </a:extLst>
          </p:cNvPr>
          <p:cNvSpPr>
            <a:spLocks xmlns:a="http://schemas.openxmlformats.org/drawingml/2006/main" noGrp="1"/>
          </p:cNvSpPr>
          <p:nvPr/>
        </p:nvSpPr>
        <p:spPr>
          <a:xfrm xmlns:a="http://schemas.openxmlformats.org/drawingml/2006/main">
            <a:off x="6477000" y="2771775"/>
            <a:ext cx="123825" cy="666750"/>
          </a:xfrm>
          <a:prstGeom xmlns:a="http://schemas.openxmlformats.org/drawingml/2006/main" prst="rect">
            <a:avLst/>
          </a:prstGeom>
          <a:solidFill xmlns:a="http://schemas.openxmlformats.org/drawingml/2006/main">
            <a:srgbClr val="F4857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AC5217B-8357-4C4B-AE97-B6D8C5BCF761}"/>
              </a:ext>
            </a:extLst>
          </p:cNvPr>
          <p:cNvSpPr>
            <a:spLocks xmlns:a="http://schemas.openxmlformats.org/drawingml/2006/main" noGrp="1"/>
          </p:cNvSpPr>
          <p:nvPr/>
        </p:nvSpPr>
        <p:spPr>
          <a:xfrm xmlns:a="http://schemas.openxmlformats.org/drawingml/2006/main">
            <a:off x="6810375" y="27717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F48576"/>
                </a:solidFill>
                <a:latin typeface="Aptos"/>
                <a:ea typeface="Aptos"/>
                <a:cs typeface="Aptos"/>
              </a:defRPr>
            </a:pPr>
            <a:r>
              <a:rPr sz="1950" b="1">
                <a:solidFill>
                  <a:srgbClr val="F48576"/>
                </a:solidFill>
                <a:latin typeface="Aptos"/>
                <a:ea typeface="Aptos"/>
                <a:cs typeface="Aptos"/>
              </a:rPr>
              <a:t>VLAN 60</a:t>
            </a:r>
          </a:p>
        </p:txBody>
      </p:sp>
      <p:sp>
        <p:nvSpPr>
          <p:cNvPr id="21" name="">
            <a:extLst xmlns:a="http://schemas.openxmlformats.org/drawingml/2006/main">
              <a:ext uri="{FF2B5EF4-FFF2-40B4-BE49-F238E27FC236}">
                <a16:creationId xmlns:a16="http://schemas.microsoft.com/office/drawing/2014/main" id="{3766A767-71C6-48A2-B5B0-9032D1DDE537}"/>
              </a:ext>
            </a:extLst>
          </p:cNvPr>
          <p:cNvSpPr>
            <a:spLocks xmlns:a="http://schemas.openxmlformats.org/drawingml/2006/main" noGrp="1"/>
          </p:cNvSpPr>
          <p:nvPr/>
        </p:nvSpPr>
        <p:spPr>
          <a:xfrm xmlns:a="http://schemas.openxmlformats.org/drawingml/2006/main">
            <a:off x="8524875" y="27717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Management</a:t>
            </a:r>
          </a:p>
        </p:txBody>
      </p:sp>
      <p:sp>
        <p:nvSpPr>
          <p:cNvPr id="22" name="">
            <a:extLst xmlns:a="http://schemas.openxmlformats.org/drawingml/2006/main">
              <a:ext uri="{FF2B5EF4-FFF2-40B4-BE49-F238E27FC236}">
                <a16:creationId xmlns:a16="http://schemas.microsoft.com/office/drawing/2014/main" id="{AE19876F-CA6C-4D0C-AE4B-EA114C3BD8CD}"/>
              </a:ext>
            </a:extLst>
          </p:cNvPr>
          <p:cNvSpPr>
            <a:spLocks xmlns:a="http://schemas.openxmlformats.org/drawingml/2006/main" noGrp="1"/>
          </p:cNvSpPr>
          <p:nvPr/>
        </p:nvSpPr>
        <p:spPr>
          <a:xfrm xmlns:a="http://schemas.openxmlformats.org/drawingml/2006/main">
            <a:off x="6477000" y="3800475"/>
            <a:ext cx="123825" cy="666750"/>
          </a:xfrm>
          <a:prstGeom xmlns:a="http://schemas.openxmlformats.org/drawingml/2006/main" prst="rect">
            <a:avLst/>
          </a:prstGeom>
          <a:solidFill xmlns:a="http://schemas.openxmlformats.org/drawingml/2006/main">
            <a:srgbClr val="8FB0C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80C8D78-5287-489D-9C7E-183B07C71CDB}"/>
              </a:ext>
            </a:extLst>
          </p:cNvPr>
          <p:cNvSpPr>
            <a:spLocks xmlns:a="http://schemas.openxmlformats.org/drawingml/2006/main" noGrp="1"/>
          </p:cNvSpPr>
          <p:nvPr/>
        </p:nvSpPr>
        <p:spPr>
          <a:xfrm xmlns:a="http://schemas.openxmlformats.org/drawingml/2006/main">
            <a:off x="6810375" y="3800475"/>
            <a:ext cx="161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950" b="1">
                <a:solidFill>
                  <a:srgbClr val="8FB0C7"/>
                </a:solidFill>
                <a:latin typeface="Aptos"/>
                <a:ea typeface="Aptos"/>
                <a:cs typeface="Aptos"/>
              </a:defRPr>
            </a:pPr>
            <a:r>
              <a:rPr sz="1950" b="1">
                <a:solidFill>
                  <a:srgbClr val="8FB0C7"/>
                </a:solidFill>
                <a:latin typeface="Aptos"/>
                <a:ea typeface="Aptos"/>
                <a:cs typeface="Aptos"/>
              </a:rPr>
              <a:t>VLAN 70</a:t>
            </a:r>
          </a:p>
        </p:txBody>
      </p:sp>
      <p:sp>
        <p:nvSpPr>
          <p:cNvPr id="24" name="">
            <a:extLst xmlns:a="http://schemas.openxmlformats.org/drawingml/2006/main">
              <a:ext uri="{FF2B5EF4-FFF2-40B4-BE49-F238E27FC236}">
                <a16:creationId xmlns:a16="http://schemas.microsoft.com/office/drawing/2014/main" id="{5653DA25-95BE-4C0F-B240-122270305DC0}"/>
              </a:ext>
            </a:extLst>
          </p:cNvPr>
          <p:cNvSpPr>
            <a:spLocks xmlns:a="http://schemas.openxmlformats.org/drawingml/2006/main" noGrp="1"/>
          </p:cNvSpPr>
          <p:nvPr/>
        </p:nvSpPr>
        <p:spPr>
          <a:xfrm xmlns:a="http://schemas.openxmlformats.org/drawingml/2006/main">
            <a:off x="8524875" y="3800475"/>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132A3A"/>
                </a:solidFill>
                <a:latin typeface="Aptos"/>
                <a:ea typeface="Aptos"/>
                <a:cs typeface="Aptos"/>
              </a:defRPr>
            </a:pPr>
            <a:r>
              <a:rPr sz="2025" b="0">
                <a:solidFill>
                  <a:srgbClr val="132A3A"/>
                </a:solidFill>
                <a:latin typeface="Aptos"/>
                <a:ea typeface="Aptos"/>
                <a:cs typeface="Aptos"/>
              </a:rPr>
              <a:t>Printers</a:t>
            </a:r>
          </a:p>
        </p:txBody>
      </p:sp>
    </p:spTree>
    <p:extLst>
      <p:ext uri="{BB962C8B-B14F-4D97-AF65-F5344CB8AC3E}">
        <p14:creationId xmlns:p14="http://schemas.microsoft.com/office/powerpoint/2010/main" val="877456838"/>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DA633E9-6A88-48C5-AA11-3E252449813F}"/>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Inter-VLAN routing and HSRP</a:t>
            </a:r>
          </a:p>
        </p:txBody>
      </p:sp>
      <p:sp>
        <p:nvSpPr>
          <p:cNvPr id="2" name="">
            <a:extLst xmlns:a="http://schemas.openxmlformats.org/drawingml/2006/main">
              <a:ext uri="{FF2B5EF4-FFF2-40B4-BE49-F238E27FC236}">
                <a16:creationId xmlns:a16="http://schemas.microsoft.com/office/drawing/2014/main" id="{B8344B0D-6E4D-4DFA-A0FD-8E8A32376CF4}"/>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2758684-6AF9-4B91-AAE6-0A5BDF52EF81}"/>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06F2D8BB-4E5A-46CC-8140-41966E2CBE98}"/>
              </a:ext>
            </a:extLst>
          </p:cNvPr>
          <p:cNvSpPr>
            <a:spLocks xmlns:a="http://schemas.openxmlformats.org/drawingml/2006/main" noGrp="1"/>
          </p:cNvSpPr>
          <p:nvPr/>
        </p:nvSpPr>
        <p:spPr>
          <a:xfrm xmlns:a="http://schemas.openxmlformats.org/drawingml/2006/main">
            <a:off x="857250" y="2809875"/>
            <a:ext cx="2333625" cy="1095375"/>
          </a:xfrm>
          <a:prstGeom xmlns:a="http://schemas.openxmlformats.org/drawingml/2006/main" prst="roundRect">
            <a:avLst>
              <a:gd name="adj" fmla="val 12174"/>
            </a:avLst>
          </a:prstGeom>
          <a:solidFill xmlns:a="http://schemas.openxmlformats.org/drawingml/2006/main">
            <a:srgbClr val="EAF6F8"/>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B46F4D8A-2703-4446-95C8-866EEF76CC6B}"/>
              </a:ext>
            </a:extLst>
          </p:cNvPr>
          <p:cNvSpPr>
            <a:spLocks xmlns:a="http://schemas.openxmlformats.org/drawingml/2006/main" noGrp="1"/>
          </p:cNvSpPr>
          <p:nvPr/>
        </p:nvSpPr>
        <p:spPr>
          <a:xfrm xmlns:a="http://schemas.openxmlformats.org/drawingml/2006/main">
            <a:off x="971550" y="2886075"/>
            <a:ext cx="210502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Client VLANs</a:t>
            </a:r>
          </a:p>
        </p:txBody>
      </p:sp>
      <p:sp>
        <p:nvSpPr>
          <p:cNvPr id="6" name="">
            <a:extLst xmlns:a="http://schemas.openxmlformats.org/drawingml/2006/main">
              <a:ext uri="{FF2B5EF4-FFF2-40B4-BE49-F238E27FC236}">
                <a16:creationId xmlns:a16="http://schemas.microsoft.com/office/drawing/2014/main" id="{5E90D78C-F998-4553-B18B-41DD76EF0AC2}"/>
              </a:ext>
            </a:extLst>
          </p:cNvPr>
          <p:cNvSpPr>
            <a:spLocks xmlns:a="http://schemas.openxmlformats.org/drawingml/2006/main" noGrp="1"/>
          </p:cNvSpPr>
          <p:nvPr/>
        </p:nvSpPr>
        <p:spPr>
          <a:xfrm xmlns:a="http://schemas.openxmlformats.org/drawingml/2006/main">
            <a:off x="4619625" y="2667000"/>
            <a:ext cx="2952750" cy="1333500"/>
          </a:xfrm>
          <a:prstGeom xmlns:a="http://schemas.openxmlformats.org/drawingml/2006/main" prst="roundRect">
            <a:avLst>
              <a:gd name="adj" fmla="val 10000"/>
            </a:avLst>
          </a:prstGeom>
          <a:solidFill xmlns:a="http://schemas.openxmlformats.org/drawingml/2006/main">
            <a:srgbClr val="E7F8F6"/>
          </a:solidFill>
          <a:ln xmlns:a="http://schemas.openxmlformats.org/drawingml/2006/main" w="9525">
            <a:solidFill>
              <a:srgbClr val="48CBAA"/>
            </a:solidFill>
            <a:prstDash val="solid"/>
          </a:ln>
        </p:spPr>
      </p:sp>
      <p:sp>
        <p:nvSpPr>
          <p:cNvPr id="7" name="">
            <a:extLst xmlns:a="http://schemas.openxmlformats.org/drawingml/2006/main">
              <a:ext uri="{FF2B5EF4-FFF2-40B4-BE49-F238E27FC236}">
                <a16:creationId xmlns:a16="http://schemas.microsoft.com/office/drawing/2014/main" id="{67E1E427-B01B-4F64-900C-A66F7364F37A}"/>
              </a:ext>
            </a:extLst>
          </p:cNvPr>
          <p:cNvSpPr>
            <a:spLocks xmlns:a="http://schemas.openxmlformats.org/drawingml/2006/main" noGrp="1"/>
          </p:cNvSpPr>
          <p:nvPr/>
        </p:nvSpPr>
        <p:spPr>
          <a:xfrm xmlns:a="http://schemas.openxmlformats.org/drawingml/2006/main">
            <a:off x="4733925" y="2743200"/>
            <a:ext cx="27241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2A3A"/>
                </a:solidFill>
                <a:latin typeface="Aptos"/>
                <a:ea typeface="Aptos"/>
                <a:cs typeface="Aptos"/>
              </a:defRPr>
            </a:pPr>
            <a:r>
              <a:rPr sz="1950" b="1">
                <a:solidFill>
                  <a:srgbClr val="132A3A"/>
                </a:solidFill>
                <a:latin typeface="Aptos"/>
                <a:ea typeface="Aptos"/>
                <a:cs typeface="Aptos"/>
              </a:rPr>
              <a:t>Virtual gateway</a:t>
            </a:r>
          </a:p>
          <a:p xmlns:a="http://schemas.openxmlformats.org/drawingml/2006/main">
            <a:pPr algn="ctr">
              <a:defRPr sz="1950" b="1">
                <a:solidFill>
                  <a:srgbClr val="132A3A"/>
                </a:solidFill>
                <a:latin typeface="Aptos"/>
                <a:ea typeface="Aptos"/>
                <a:cs typeface="Aptos"/>
              </a:defRPr>
            </a:pPr>
            <a:r>
              <a:rPr sz="1950" b="1">
                <a:solidFill>
                  <a:srgbClr val="132A3A"/>
                </a:solidFill>
                <a:latin typeface="Aptos"/>
                <a:ea typeface="Aptos"/>
                <a:cs typeface="Aptos"/>
              </a:rPr>
              <a:t>.254</a:t>
            </a:r>
          </a:p>
        </p:txBody>
      </p:sp>
      <p:sp>
        <p:nvSpPr>
          <p:cNvPr id="8" name="">
            <a:extLst xmlns:a="http://schemas.openxmlformats.org/drawingml/2006/main">
              <a:ext uri="{FF2B5EF4-FFF2-40B4-BE49-F238E27FC236}">
                <a16:creationId xmlns:a16="http://schemas.microsoft.com/office/drawing/2014/main" id="{7AAB649B-AE39-44FF-BB4C-9ED9A36A9AA6}"/>
              </a:ext>
            </a:extLst>
          </p:cNvPr>
          <p:cNvSpPr>
            <a:spLocks xmlns:a="http://schemas.openxmlformats.org/drawingml/2006/main" noGrp="1"/>
          </p:cNvSpPr>
          <p:nvPr/>
        </p:nvSpPr>
        <p:spPr>
          <a:xfrm xmlns:a="http://schemas.openxmlformats.org/drawingml/2006/main">
            <a:off x="9001125" y="2809875"/>
            <a:ext cx="2333625" cy="1095375"/>
          </a:xfrm>
          <a:prstGeom xmlns:a="http://schemas.openxmlformats.org/drawingml/2006/main" prst="roundRect">
            <a:avLst>
              <a:gd name="adj" fmla="val 12174"/>
            </a:avLst>
          </a:prstGeom>
          <a:solidFill xmlns:a="http://schemas.openxmlformats.org/drawingml/2006/main">
            <a:srgbClr val="FFF6E8"/>
          </a:solidFill>
          <a:ln xmlns:a="http://schemas.openxmlformats.org/drawingml/2006/main" w="9525">
            <a:solidFill>
              <a:srgbClr val="F3B96A"/>
            </a:solidFill>
            <a:prstDash val="solid"/>
          </a:ln>
        </p:spPr>
      </p:sp>
      <p:sp>
        <p:nvSpPr>
          <p:cNvPr id="9" name="">
            <a:extLst xmlns:a="http://schemas.openxmlformats.org/drawingml/2006/main">
              <a:ext uri="{FF2B5EF4-FFF2-40B4-BE49-F238E27FC236}">
                <a16:creationId xmlns:a16="http://schemas.microsoft.com/office/drawing/2014/main" id="{C844DC94-9132-4021-A79B-1BBEF0C2D33C}"/>
              </a:ext>
            </a:extLst>
          </p:cNvPr>
          <p:cNvSpPr>
            <a:spLocks xmlns:a="http://schemas.openxmlformats.org/drawingml/2006/main" noGrp="1"/>
          </p:cNvSpPr>
          <p:nvPr/>
        </p:nvSpPr>
        <p:spPr>
          <a:xfrm xmlns:a="http://schemas.openxmlformats.org/drawingml/2006/main">
            <a:off x="9115425" y="2886075"/>
            <a:ext cx="210502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Shared services</a:t>
            </a:r>
          </a:p>
        </p:txBody>
      </p:sp>
      <p:sp>
        <p:nvSpPr>
          <p:cNvPr id="10" name="">
            <a:extLst xmlns:a="http://schemas.openxmlformats.org/drawingml/2006/main">
              <a:ext uri="{FF2B5EF4-FFF2-40B4-BE49-F238E27FC236}">
                <a16:creationId xmlns:a16="http://schemas.microsoft.com/office/drawing/2014/main" id="{5B56EA38-ED3E-4AE8-8048-2EE434A4A77D}"/>
              </a:ext>
            </a:extLst>
          </p:cNvPr>
          <p:cNvSpPr>
            <a:spLocks xmlns:a="http://schemas.openxmlformats.org/drawingml/2006/main" noGrp="1"/>
          </p:cNvSpPr>
          <p:nvPr/>
        </p:nvSpPr>
        <p:spPr>
          <a:xfrm xmlns:a="http://schemas.openxmlformats.org/drawingml/2006/main">
            <a:off x="3352800" y="3133725"/>
            <a:ext cx="971550" cy="381000"/>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CCC611D-E215-45D1-AA9F-06B4166B9C66}"/>
              </a:ext>
            </a:extLst>
          </p:cNvPr>
          <p:cNvSpPr>
            <a:spLocks xmlns:a="http://schemas.openxmlformats.org/drawingml/2006/main" noGrp="1"/>
          </p:cNvSpPr>
          <p:nvPr/>
        </p:nvSpPr>
        <p:spPr>
          <a:xfrm xmlns:a="http://schemas.openxmlformats.org/drawingml/2006/main">
            <a:off x="7734300" y="3133725"/>
            <a:ext cx="962025" cy="381000"/>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1B3EBA5-C023-4DCA-B3A6-098B7AAD6EDB}"/>
              </a:ext>
            </a:extLst>
          </p:cNvPr>
          <p:cNvSpPr>
            <a:spLocks xmlns:a="http://schemas.openxmlformats.org/drawingml/2006/main" noGrp="1"/>
          </p:cNvSpPr>
          <p:nvPr/>
        </p:nvSpPr>
        <p:spPr>
          <a:xfrm xmlns:a="http://schemas.openxmlformats.org/drawingml/2006/main">
            <a:off x="4467225" y="4524375"/>
            <a:ext cx="1619250" cy="1000125"/>
          </a:xfrm>
          <a:prstGeom xmlns:a="http://schemas.openxmlformats.org/drawingml/2006/main" prst="roundRect">
            <a:avLst>
              <a:gd name="adj" fmla="val 13333"/>
            </a:avLst>
          </a:prstGeom>
          <a:solidFill xmlns:a="http://schemas.openxmlformats.org/drawingml/2006/main">
            <a:srgbClr val="F8FCFD"/>
          </a:solidFill>
          <a:ln xmlns:a="http://schemas.openxmlformats.org/drawingml/2006/main" w="9525">
            <a:solidFill>
              <a:srgbClr val="2089C4"/>
            </a:solidFill>
            <a:prstDash val="solid"/>
          </a:ln>
        </p:spPr>
      </p:sp>
      <p:sp>
        <p:nvSpPr>
          <p:cNvPr id="13" name="">
            <a:extLst xmlns:a="http://schemas.openxmlformats.org/drawingml/2006/main">
              <a:ext uri="{FF2B5EF4-FFF2-40B4-BE49-F238E27FC236}">
                <a16:creationId xmlns:a16="http://schemas.microsoft.com/office/drawing/2014/main" id="{BEA6E930-72E9-49FC-AD37-9C5DA6EB4786}"/>
              </a:ext>
            </a:extLst>
          </p:cNvPr>
          <p:cNvSpPr>
            <a:spLocks xmlns:a="http://schemas.openxmlformats.org/drawingml/2006/main" noGrp="1"/>
          </p:cNvSpPr>
          <p:nvPr/>
        </p:nvSpPr>
        <p:spPr>
          <a:xfrm xmlns:a="http://schemas.openxmlformats.org/drawingml/2006/main">
            <a:off x="4657725" y="4714875"/>
            <a:ext cx="1238250" cy="114300"/>
          </a:xfrm>
          <a:prstGeom xmlns:a="http://schemas.openxmlformats.org/drawingml/2006/main" prst="rect">
            <a:avLst/>
          </a:prstGeom>
          <a:solidFill xmlns:a="http://schemas.openxmlformats.org/drawingml/2006/main">
            <a:srgbClr val="2089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2F689A1-02CB-49C8-9C4A-7A33FF92658C}"/>
              </a:ext>
            </a:extLst>
          </p:cNvPr>
          <p:cNvSpPr>
            <a:spLocks xmlns:a="http://schemas.openxmlformats.org/drawingml/2006/main" noGrp="1"/>
          </p:cNvSpPr>
          <p:nvPr/>
        </p:nvSpPr>
        <p:spPr>
          <a:xfrm xmlns:a="http://schemas.openxmlformats.org/drawingml/2006/main">
            <a:off x="4781550" y="49339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BD1ABC-7018-486B-95C5-ECF532EDA413}"/>
              </a:ext>
            </a:extLst>
          </p:cNvPr>
          <p:cNvSpPr>
            <a:spLocks xmlns:a="http://schemas.openxmlformats.org/drawingml/2006/main" noGrp="1"/>
          </p:cNvSpPr>
          <p:nvPr/>
        </p:nvSpPr>
        <p:spPr>
          <a:xfrm xmlns:a="http://schemas.openxmlformats.org/drawingml/2006/main">
            <a:off x="5076825" y="49339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BDAC4AE-0F53-459C-8175-F0CED941A83B}"/>
              </a:ext>
            </a:extLst>
          </p:cNvPr>
          <p:cNvSpPr>
            <a:spLocks xmlns:a="http://schemas.openxmlformats.org/drawingml/2006/main" noGrp="1"/>
          </p:cNvSpPr>
          <p:nvPr/>
        </p:nvSpPr>
        <p:spPr>
          <a:xfrm xmlns:a="http://schemas.openxmlformats.org/drawingml/2006/main">
            <a:off x="5372100" y="49339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874B633-1470-4F07-9E88-2B9DC5A59C74}"/>
              </a:ext>
            </a:extLst>
          </p:cNvPr>
          <p:cNvSpPr>
            <a:spLocks xmlns:a="http://schemas.openxmlformats.org/drawingml/2006/main" noGrp="1"/>
          </p:cNvSpPr>
          <p:nvPr/>
        </p:nvSpPr>
        <p:spPr>
          <a:xfrm xmlns:a="http://schemas.openxmlformats.org/drawingml/2006/main">
            <a:off x="5667375" y="49339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A28CEED-B75D-4E49-A706-BA21A7D40943}"/>
              </a:ext>
            </a:extLst>
          </p:cNvPr>
          <p:cNvSpPr>
            <a:spLocks xmlns:a="http://schemas.openxmlformats.org/drawingml/2006/main" noGrp="1"/>
          </p:cNvSpPr>
          <p:nvPr/>
        </p:nvSpPr>
        <p:spPr>
          <a:xfrm xmlns:a="http://schemas.openxmlformats.org/drawingml/2006/main">
            <a:off x="4581525" y="518160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SW-L3-1</a:t>
            </a:r>
          </a:p>
        </p:txBody>
      </p:sp>
      <p:sp>
        <p:nvSpPr>
          <p:cNvPr id="19" name="">
            <a:extLst xmlns:a="http://schemas.openxmlformats.org/drawingml/2006/main">
              <a:ext uri="{FF2B5EF4-FFF2-40B4-BE49-F238E27FC236}">
                <a16:creationId xmlns:a16="http://schemas.microsoft.com/office/drawing/2014/main" id="{57D66CFD-5265-4BAC-91BE-71432CD731AE}"/>
              </a:ext>
            </a:extLst>
          </p:cNvPr>
          <p:cNvSpPr>
            <a:spLocks xmlns:a="http://schemas.openxmlformats.org/drawingml/2006/main" noGrp="1"/>
          </p:cNvSpPr>
          <p:nvPr/>
        </p:nvSpPr>
        <p:spPr>
          <a:xfrm xmlns:a="http://schemas.openxmlformats.org/drawingml/2006/main">
            <a:off x="6238875" y="4524375"/>
            <a:ext cx="1619250" cy="1000125"/>
          </a:xfrm>
          <a:prstGeom xmlns:a="http://schemas.openxmlformats.org/drawingml/2006/main" prst="roundRect">
            <a:avLst>
              <a:gd name="adj" fmla="val 13333"/>
            </a:avLst>
          </a:prstGeom>
          <a:solidFill xmlns:a="http://schemas.openxmlformats.org/drawingml/2006/main">
            <a:srgbClr val="F8FCFD"/>
          </a:solidFill>
          <a:ln xmlns:a="http://schemas.openxmlformats.org/drawingml/2006/main" w="9525">
            <a:solidFill>
              <a:srgbClr val="48CBAA"/>
            </a:solidFill>
            <a:prstDash val="solid"/>
          </a:ln>
        </p:spPr>
      </p:sp>
      <p:sp>
        <p:nvSpPr>
          <p:cNvPr id="20" name="">
            <a:extLst xmlns:a="http://schemas.openxmlformats.org/drawingml/2006/main">
              <a:ext uri="{FF2B5EF4-FFF2-40B4-BE49-F238E27FC236}">
                <a16:creationId xmlns:a16="http://schemas.microsoft.com/office/drawing/2014/main" id="{6315AB41-0857-4A1C-828A-82A775562633}"/>
              </a:ext>
            </a:extLst>
          </p:cNvPr>
          <p:cNvSpPr>
            <a:spLocks xmlns:a="http://schemas.openxmlformats.org/drawingml/2006/main" noGrp="1"/>
          </p:cNvSpPr>
          <p:nvPr/>
        </p:nvSpPr>
        <p:spPr>
          <a:xfrm xmlns:a="http://schemas.openxmlformats.org/drawingml/2006/main">
            <a:off x="6429375" y="4714875"/>
            <a:ext cx="1238250" cy="114300"/>
          </a:xfrm>
          <a:prstGeom xmlns:a="http://schemas.openxmlformats.org/drawingml/2006/main" prst="rect">
            <a:avLst/>
          </a:prstGeom>
          <a:solidFill xmlns:a="http://schemas.openxmlformats.org/drawingml/2006/main">
            <a:srgbClr val="48CBA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D1EBE3C-992D-4478-800E-38B7F5440431}"/>
              </a:ext>
            </a:extLst>
          </p:cNvPr>
          <p:cNvSpPr>
            <a:spLocks xmlns:a="http://schemas.openxmlformats.org/drawingml/2006/main" noGrp="1"/>
          </p:cNvSpPr>
          <p:nvPr/>
        </p:nvSpPr>
        <p:spPr>
          <a:xfrm xmlns:a="http://schemas.openxmlformats.org/drawingml/2006/main">
            <a:off x="6553200" y="4933950"/>
            <a:ext cx="114300" cy="1143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6502633-0D24-4FDB-9135-89E63DB255C1}"/>
              </a:ext>
            </a:extLst>
          </p:cNvPr>
          <p:cNvSpPr>
            <a:spLocks xmlns:a="http://schemas.openxmlformats.org/drawingml/2006/main" noGrp="1"/>
          </p:cNvSpPr>
          <p:nvPr/>
        </p:nvSpPr>
        <p:spPr>
          <a:xfrm xmlns:a="http://schemas.openxmlformats.org/drawingml/2006/main">
            <a:off x="6848475" y="4933950"/>
            <a:ext cx="114300" cy="1143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6D0338D-1C42-4E0B-9B29-8B71A878C229}"/>
              </a:ext>
            </a:extLst>
          </p:cNvPr>
          <p:cNvSpPr>
            <a:spLocks xmlns:a="http://schemas.openxmlformats.org/drawingml/2006/main" noGrp="1"/>
          </p:cNvSpPr>
          <p:nvPr/>
        </p:nvSpPr>
        <p:spPr>
          <a:xfrm xmlns:a="http://schemas.openxmlformats.org/drawingml/2006/main">
            <a:off x="7143750" y="4933950"/>
            <a:ext cx="114300" cy="1143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1861AD2-ED34-422D-92D9-7515A2406F79}"/>
              </a:ext>
            </a:extLst>
          </p:cNvPr>
          <p:cNvSpPr>
            <a:spLocks xmlns:a="http://schemas.openxmlformats.org/drawingml/2006/main" noGrp="1"/>
          </p:cNvSpPr>
          <p:nvPr/>
        </p:nvSpPr>
        <p:spPr>
          <a:xfrm xmlns:a="http://schemas.openxmlformats.org/drawingml/2006/main">
            <a:off x="7439025" y="4933950"/>
            <a:ext cx="114300" cy="1143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D96D16-D27A-4834-97F0-7DE14CB3036F}"/>
              </a:ext>
            </a:extLst>
          </p:cNvPr>
          <p:cNvSpPr>
            <a:spLocks xmlns:a="http://schemas.openxmlformats.org/drawingml/2006/main" noGrp="1"/>
          </p:cNvSpPr>
          <p:nvPr/>
        </p:nvSpPr>
        <p:spPr>
          <a:xfrm xmlns:a="http://schemas.openxmlformats.org/drawingml/2006/main">
            <a:off x="6353175" y="5181600"/>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SW-L3-2</a:t>
            </a:r>
          </a:p>
        </p:txBody>
      </p:sp>
      <p:sp>
        <p:nvSpPr>
          <p:cNvPr id="26" name="">
            <a:extLst xmlns:a="http://schemas.openxmlformats.org/drawingml/2006/main">
              <a:ext uri="{FF2B5EF4-FFF2-40B4-BE49-F238E27FC236}">
                <a16:creationId xmlns:a16="http://schemas.microsoft.com/office/drawing/2014/main" id="{35C3529E-7DAD-413A-827A-170F974C9F71}"/>
              </a:ext>
            </a:extLst>
          </p:cNvPr>
          <p:cNvSpPr>
            <a:spLocks xmlns:a="http://schemas.openxmlformats.org/drawingml/2006/main" noGrp="1"/>
          </p:cNvSpPr>
          <p:nvPr/>
        </p:nvSpPr>
        <p:spPr>
          <a:xfrm xmlns:a="http://schemas.openxmlformats.org/drawingml/2006/main">
            <a:off x="4543425" y="5629275"/>
            <a:ext cx="1476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5E7485"/>
                </a:solidFill>
                <a:latin typeface="Aptos"/>
                <a:ea typeface="Aptos"/>
                <a:cs typeface="Aptos"/>
              </a:defRPr>
            </a:pPr>
            <a:r>
              <a:rPr sz="1350" b="0">
                <a:solidFill>
                  <a:srgbClr val="5E7485"/>
                </a:solidFill>
                <a:latin typeface="Aptos"/>
                <a:ea typeface="Aptos"/>
                <a:cs typeface="Aptos"/>
              </a:rPr>
              <a:t>Preferred</a:t>
            </a:r>
          </a:p>
        </p:txBody>
      </p:sp>
      <p:sp>
        <p:nvSpPr>
          <p:cNvPr id="27" name="">
            <a:extLst xmlns:a="http://schemas.openxmlformats.org/drawingml/2006/main">
              <a:ext uri="{FF2B5EF4-FFF2-40B4-BE49-F238E27FC236}">
                <a16:creationId xmlns:a16="http://schemas.microsoft.com/office/drawing/2014/main" id="{6AEC4172-A13D-4ADB-92BD-A43C8A30A6BF}"/>
              </a:ext>
            </a:extLst>
          </p:cNvPr>
          <p:cNvSpPr>
            <a:spLocks xmlns:a="http://schemas.openxmlformats.org/drawingml/2006/main" noGrp="1"/>
          </p:cNvSpPr>
          <p:nvPr/>
        </p:nvSpPr>
        <p:spPr>
          <a:xfrm xmlns:a="http://schemas.openxmlformats.org/drawingml/2006/main">
            <a:off x="6353175" y="5629275"/>
            <a:ext cx="14763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5E7485"/>
                </a:solidFill>
                <a:latin typeface="Aptos"/>
                <a:ea typeface="Aptos"/>
                <a:cs typeface="Aptos"/>
              </a:defRPr>
            </a:pPr>
            <a:r>
              <a:rPr sz="1350" b="0">
                <a:solidFill>
                  <a:srgbClr val="5E7485"/>
                </a:solidFill>
                <a:latin typeface="Aptos"/>
                <a:ea typeface="Aptos"/>
                <a:cs typeface="Aptos"/>
              </a:rPr>
              <a:t>Standby peer</a:t>
            </a:r>
          </a:p>
        </p:txBody>
      </p:sp>
    </p:spTree>
    <p:extLst>
      <p:ext uri="{BB962C8B-B14F-4D97-AF65-F5344CB8AC3E}">
        <p14:creationId xmlns:p14="http://schemas.microsoft.com/office/powerpoint/2010/main" val="1178022863"/>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EBFCBD2-2D31-488A-BC37-51506B7863D0}"/>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OSPF learns internal routes</a:t>
            </a:r>
          </a:p>
        </p:txBody>
      </p:sp>
      <p:sp>
        <p:nvSpPr>
          <p:cNvPr id="2" name="">
            <a:extLst xmlns:a="http://schemas.openxmlformats.org/drawingml/2006/main">
              <a:ext uri="{FF2B5EF4-FFF2-40B4-BE49-F238E27FC236}">
                <a16:creationId xmlns:a16="http://schemas.microsoft.com/office/drawing/2014/main" id="{C3AB283F-D025-4C03-B40C-A6F0952D8A84}"/>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AFFFB2-E58B-4E6F-ADF2-2D985E8D64C1}"/>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43F2C93D-C142-4207-A7E9-11F180F56597}"/>
              </a:ext>
            </a:extLst>
          </p:cNvPr>
          <p:cNvSpPr>
            <a:spLocks xmlns:a="http://schemas.openxmlformats.org/drawingml/2006/main" noGrp="1"/>
          </p:cNvSpPr>
          <p:nvPr/>
        </p:nvSpPr>
        <p:spPr>
          <a:xfrm xmlns:a="http://schemas.openxmlformats.org/drawingml/2006/main">
            <a:off x="1009650" y="2809875"/>
            <a:ext cx="2238375" cy="1095375"/>
          </a:xfrm>
          <a:prstGeom xmlns:a="http://schemas.openxmlformats.org/drawingml/2006/main" prst="roundRect">
            <a:avLst>
              <a:gd name="adj" fmla="val 12174"/>
            </a:avLst>
          </a:prstGeom>
          <a:solidFill xmlns:a="http://schemas.openxmlformats.org/drawingml/2006/main">
            <a:srgbClr val="F8FCFD"/>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C24651A3-63EA-46F2-BD33-20F1BC738A93}"/>
              </a:ext>
            </a:extLst>
          </p:cNvPr>
          <p:cNvSpPr>
            <a:spLocks xmlns:a="http://schemas.openxmlformats.org/drawingml/2006/main" noGrp="1"/>
          </p:cNvSpPr>
          <p:nvPr/>
        </p:nvSpPr>
        <p:spPr>
          <a:xfrm xmlns:a="http://schemas.openxmlformats.org/drawingml/2006/main">
            <a:off x="1123950" y="2886075"/>
            <a:ext cx="20097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User gateways</a:t>
            </a:r>
          </a:p>
        </p:txBody>
      </p:sp>
      <p:sp>
        <p:nvSpPr>
          <p:cNvPr id="6" name="">
            <a:extLst xmlns:a="http://schemas.openxmlformats.org/drawingml/2006/main">
              <a:ext uri="{FF2B5EF4-FFF2-40B4-BE49-F238E27FC236}">
                <a16:creationId xmlns:a16="http://schemas.microsoft.com/office/drawing/2014/main" id="{8907D386-6A4F-4B66-B5FF-41A26995F980}"/>
              </a:ext>
            </a:extLst>
          </p:cNvPr>
          <p:cNvSpPr>
            <a:spLocks xmlns:a="http://schemas.openxmlformats.org/drawingml/2006/main" noGrp="1"/>
          </p:cNvSpPr>
          <p:nvPr/>
        </p:nvSpPr>
        <p:spPr>
          <a:xfrm xmlns:a="http://schemas.openxmlformats.org/drawingml/2006/main">
            <a:off x="4810125" y="1809750"/>
            <a:ext cx="2286000" cy="904875"/>
          </a:xfrm>
          <a:prstGeom xmlns:a="http://schemas.openxmlformats.org/drawingml/2006/main" prst="roundRect">
            <a:avLst>
              <a:gd name="adj" fmla="val 14737"/>
            </a:avLst>
          </a:prstGeom>
          <a:solidFill xmlns:a="http://schemas.openxmlformats.org/drawingml/2006/main">
            <a:srgbClr val="F8FCFD"/>
          </a:solidFill>
          <a:ln xmlns:a="http://schemas.openxmlformats.org/drawingml/2006/main" w="9525">
            <a:solidFill>
              <a:srgbClr val="18CBE2"/>
            </a:solidFill>
            <a:prstDash val="solid"/>
          </a:ln>
        </p:spPr>
      </p:sp>
      <p:sp>
        <p:nvSpPr>
          <p:cNvPr id="7" name="">
            <a:extLst xmlns:a="http://schemas.openxmlformats.org/drawingml/2006/main">
              <a:ext uri="{FF2B5EF4-FFF2-40B4-BE49-F238E27FC236}">
                <a16:creationId xmlns:a16="http://schemas.microsoft.com/office/drawing/2014/main" id="{0A41DA49-5B1E-4E52-B33F-FDDE298CF969}"/>
              </a:ext>
            </a:extLst>
          </p:cNvPr>
          <p:cNvSpPr>
            <a:spLocks xmlns:a="http://schemas.openxmlformats.org/drawingml/2006/main" noGrp="1"/>
          </p:cNvSpPr>
          <p:nvPr/>
        </p:nvSpPr>
        <p:spPr>
          <a:xfrm xmlns:a="http://schemas.openxmlformats.org/drawingml/2006/main">
            <a:off x="4924425" y="1885950"/>
            <a:ext cx="20574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132A3A"/>
                </a:solidFill>
                <a:latin typeface="Aptos"/>
                <a:ea typeface="Aptos"/>
                <a:cs typeface="Aptos"/>
              </a:defRPr>
            </a:pPr>
            <a:r>
              <a:rPr sz="1800" b="1">
                <a:solidFill>
                  <a:srgbClr val="132A3A"/>
                </a:solidFill>
                <a:latin typeface="Aptos"/>
                <a:ea typeface="Aptos"/>
                <a:cs typeface="Aptos"/>
              </a:rPr>
              <a:t>SW-L3-3</a:t>
            </a:r>
          </a:p>
        </p:txBody>
      </p:sp>
      <p:sp>
        <p:nvSpPr>
          <p:cNvPr id="8" name="">
            <a:extLst xmlns:a="http://schemas.openxmlformats.org/drawingml/2006/main">
              <a:ext uri="{FF2B5EF4-FFF2-40B4-BE49-F238E27FC236}">
                <a16:creationId xmlns:a16="http://schemas.microsoft.com/office/drawing/2014/main" id="{E6DD25C5-F534-4466-8BE9-CD25269707FC}"/>
              </a:ext>
            </a:extLst>
          </p:cNvPr>
          <p:cNvSpPr>
            <a:spLocks xmlns:a="http://schemas.openxmlformats.org/drawingml/2006/main" noGrp="1"/>
          </p:cNvSpPr>
          <p:nvPr/>
        </p:nvSpPr>
        <p:spPr>
          <a:xfrm xmlns:a="http://schemas.openxmlformats.org/drawingml/2006/main">
            <a:off x="4810125" y="3943350"/>
            <a:ext cx="2286000" cy="904875"/>
          </a:xfrm>
          <a:prstGeom xmlns:a="http://schemas.openxmlformats.org/drawingml/2006/main" prst="roundRect">
            <a:avLst>
              <a:gd name="adj" fmla="val 14737"/>
            </a:avLst>
          </a:prstGeom>
          <a:solidFill xmlns:a="http://schemas.openxmlformats.org/drawingml/2006/main">
            <a:srgbClr val="F8FCFD"/>
          </a:solidFill>
          <a:ln xmlns:a="http://schemas.openxmlformats.org/drawingml/2006/main" w="9525">
            <a:solidFill>
              <a:srgbClr val="48CBAA"/>
            </a:solidFill>
            <a:prstDash val="solid"/>
          </a:ln>
        </p:spPr>
      </p:sp>
      <p:sp>
        <p:nvSpPr>
          <p:cNvPr id="9" name="">
            <a:extLst xmlns:a="http://schemas.openxmlformats.org/drawingml/2006/main">
              <a:ext uri="{FF2B5EF4-FFF2-40B4-BE49-F238E27FC236}">
                <a16:creationId xmlns:a16="http://schemas.microsoft.com/office/drawing/2014/main" id="{A6786DEF-9BC8-4031-AC6C-BCC401820545}"/>
              </a:ext>
            </a:extLst>
          </p:cNvPr>
          <p:cNvSpPr>
            <a:spLocks xmlns:a="http://schemas.openxmlformats.org/drawingml/2006/main" noGrp="1"/>
          </p:cNvSpPr>
          <p:nvPr/>
        </p:nvSpPr>
        <p:spPr>
          <a:xfrm xmlns:a="http://schemas.openxmlformats.org/drawingml/2006/main">
            <a:off x="4924425" y="4019550"/>
            <a:ext cx="20574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132A3A"/>
                </a:solidFill>
                <a:latin typeface="Aptos"/>
                <a:ea typeface="Aptos"/>
                <a:cs typeface="Aptos"/>
              </a:defRPr>
            </a:pPr>
            <a:r>
              <a:rPr sz="1800" b="1">
                <a:solidFill>
                  <a:srgbClr val="132A3A"/>
                </a:solidFill>
                <a:latin typeface="Aptos"/>
                <a:ea typeface="Aptos"/>
                <a:cs typeface="Aptos"/>
              </a:rPr>
              <a:t>SW-L3-4</a:t>
            </a:r>
          </a:p>
        </p:txBody>
      </p:sp>
      <p:sp>
        <p:nvSpPr>
          <p:cNvPr id="10" name="">
            <a:extLst xmlns:a="http://schemas.openxmlformats.org/drawingml/2006/main">
              <a:ext uri="{FF2B5EF4-FFF2-40B4-BE49-F238E27FC236}">
                <a16:creationId xmlns:a16="http://schemas.microsoft.com/office/drawing/2014/main" id="{F3945CFF-7074-4534-B705-2CE72CE1DE7A}"/>
              </a:ext>
            </a:extLst>
          </p:cNvPr>
          <p:cNvSpPr>
            <a:spLocks xmlns:a="http://schemas.openxmlformats.org/drawingml/2006/main" noGrp="1"/>
          </p:cNvSpPr>
          <p:nvPr/>
        </p:nvSpPr>
        <p:spPr>
          <a:xfrm xmlns:a="http://schemas.openxmlformats.org/drawingml/2006/main">
            <a:off x="8772525" y="2809875"/>
            <a:ext cx="2286000" cy="1095375"/>
          </a:xfrm>
          <a:prstGeom xmlns:a="http://schemas.openxmlformats.org/drawingml/2006/main" prst="roundRect">
            <a:avLst>
              <a:gd name="adj" fmla="val 12174"/>
            </a:avLst>
          </a:prstGeom>
          <a:solidFill xmlns:a="http://schemas.openxmlformats.org/drawingml/2006/main">
            <a:srgbClr val="F8FCFD"/>
          </a:solidFill>
          <a:ln xmlns:a="http://schemas.openxmlformats.org/drawingml/2006/main" w="9525">
            <a:solidFill>
              <a:srgbClr val="F3B96A"/>
            </a:solidFill>
            <a:prstDash val="solid"/>
          </a:ln>
        </p:spPr>
      </p:sp>
      <p:sp>
        <p:nvSpPr>
          <p:cNvPr id="11" name="">
            <a:extLst xmlns:a="http://schemas.openxmlformats.org/drawingml/2006/main">
              <a:ext uri="{FF2B5EF4-FFF2-40B4-BE49-F238E27FC236}">
                <a16:creationId xmlns:a16="http://schemas.microsoft.com/office/drawing/2014/main" id="{42CB777A-ADA7-4C31-906C-E38E02C67FBE}"/>
              </a:ext>
            </a:extLst>
          </p:cNvPr>
          <p:cNvSpPr>
            <a:spLocks xmlns:a="http://schemas.openxmlformats.org/drawingml/2006/main" noGrp="1"/>
          </p:cNvSpPr>
          <p:nvPr/>
        </p:nvSpPr>
        <p:spPr>
          <a:xfrm xmlns:a="http://schemas.openxmlformats.org/drawingml/2006/main">
            <a:off x="8886825" y="2886075"/>
            <a:ext cx="20574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Services</a:t>
            </a:r>
          </a:p>
        </p:txBody>
      </p:sp>
      <p:sp>
        <p:nvSpPr>
          <p:cNvPr id="12" name="">
            <a:extLst xmlns:a="http://schemas.openxmlformats.org/drawingml/2006/main">
              <a:ext uri="{FF2B5EF4-FFF2-40B4-BE49-F238E27FC236}">
                <a16:creationId xmlns:a16="http://schemas.microsoft.com/office/drawing/2014/main" id="{A0CF5720-2266-4A25-ACBB-3A6E4EBB788A}"/>
              </a:ext>
            </a:extLst>
          </p:cNvPr>
          <p:cNvSpPr>
            <a:spLocks xmlns:a="http://schemas.openxmlformats.org/drawingml/2006/main" noGrp="1"/>
          </p:cNvSpPr>
          <p:nvPr/>
        </p:nvSpPr>
        <p:spPr>
          <a:xfrm xmlns:a="http://schemas.openxmlformats.org/drawingml/2006/main" flipV="1">
            <a:off x="3286125" y="2286000"/>
            <a:ext cx="1476375" cy="809625"/>
          </a:xfrm>
          <a:prstGeom xmlns:a="http://schemas.openxmlformats.org/drawingml/2006/main" prst="line">
            <a:avLst/>
          </a:prstGeom>
          <a:noFill xmlns:a="http://schemas.openxmlformats.org/drawingml/2006/main"/>
          <a:ln xmlns:a="http://schemas.openxmlformats.org/drawingml/2006/main" w="66675">
            <a:solidFill>
              <a:srgbClr val="18CBE2"/>
            </a:solidFill>
            <a:prstDash val="solid"/>
          </a:ln>
        </p:spPr>
      </p:sp>
      <p:sp>
        <p:nvSpPr>
          <p:cNvPr id="13" name="">
            <a:extLst xmlns:a="http://schemas.openxmlformats.org/drawingml/2006/main">
              <a:ext uri="{FF2B5EF4-FFF2-40B4-BE49-F238E27FC236}">
                <a16:creationId xmlns:a16="http://schemas.microsoft.com/office/drawing/2014/main" id="{B1339968-02FD-495E-8EEA-BE285E334F27}"/>
              </a:ext>
            </a:extLst>
          </p:cNvPr>
          <p:cNvSpPr>
            <a:spLocks xmlns:a="http://schemas.openxmlformats.org/drawingml/2006/main" noGrp="1"/>
          </p:cNvSpPr>
          <p:nvPr/>
        </p:nvSpPr>
        <p:spPr>
          <a:xfrm xmlns:a="http://schemas.openxmlformats.org/drawingml/2006/main" flipV="0">
            <a:off x="3286125" y="3638550"/>
            <a:ext cx="1476375" cy="742950"/>
          </a:xfrm>
          <a:prstGeom xmlns:a="http://schemas.openxmlformats.org/drawingml/2006/main" prst="line">
            <a:avLst/>
          </a:prstGeom>
          <a:noFill xmlns:a="http://schemas.openxmlformats.org/drawingml/2006/main"/>
          <a:ln xmlns:a="http://schemas.openxmlformats.org/drawingml/2006/main" w="66675">
            <a:solidFill>
              <a:srgbClr val="48CBAA"/>
            </a:solidFill>
            <a:prstDash val="solid"/>
          </a:ln>
        </p:spPr>
      </p:sp>
      <p:sp>
        <p:nvSpPr>
          <p:cNvPr id="14" name="">
            <a:extLst xmlns:a="http://schemas.openxmlformats.org/drawingml/2006/main">
              <a:ext uri="{FF2B5EF4-FFF2-40B4-BE49-F238E27FC236}">
                <a16:creationId xmlns:a16="http://schemas.microsoft.com/office/drawing/2014/main" id="{9332CBA1-7CA1-4934-9195-A84B7B5F128C}"/>
              </a:ext>
            </a:extLst>
          </p:cNvPr>
          <p:cNvSpPr>
            <a:spLocks xmlns:a="http://schemas.openxmlformats.org/drawingml/2006/main" noGrp="1"/>
          </p:cNvSpPr>
          <p:nvPr/>
        </p:nvSpPr>
        <p:spPr>
          <a:xfrm xmlns:a="http://schemas.openxmlformats.org/drawingml/2006/main" flipV="0">
            <a:off x="7143750" y="2286000"/>
            <a:ext cx="1571625" cy="809625"/>
          </a:xfrm>
          <a:prstGeom xmlns:a="http://schemas.openxmlformats.org/drawingml/2006/main" prst="line">
            <a:avLst/>
          </a:prstGeom>
          <a:noFill xmlns:a="http://schemas.openxmlformats.org/drawingml/2006/main"/>
          <a:ln xmlns:a="http://schemas.openxmlformats.org/drawingml/2006/main" w="66675">
            <a:solidFill>
              <a:srgbClr val="18CBE2"/>
            </a:solidFill>
            <a:prstDash val="solid"/>
          </a:ln>
        </p:spPr>
      </p:sp>
      <p:sp>
        <p:nvSpPr>
          <p:cNvPr id="15" name="">
            <a:extLst xmlns:a="http://schemas.openxmlformats.org/drawingml/2006/main">
              <a:ext uri="{FF2B5EF4-FFF2-40B4-BE49-F238E27FC236}">
                <a16:creationId xmlns:a16="http://schemas.microsoft.com/office/drawing/2014/main" id="{7EAA8DC5-AC66-4903-B058-15B59AE7B761}"/>
              </a:ext>
            </a:extLst>
          </p:cNvPr>
          <p:cNvSpPr>
            <a:spLocks xmlns:a="http://schemas.openxmlformats.org/drawingml/2006/main" noGrp="1"/>
          </p:cNvSpPr>
          <p:nvPr/>
        </p:nvSpPr>
        <p:spPr>
          <a:xfrm xmlns:a="http://schemas.openxmlformats.org/drawingml/2006/main" flipV="1">
            <a:off x="7143750" y="3638550"/>
            <a:ext cx="1571625" cy="742950"/>
          </a:xfrm>
          <a:prstGeom xmlns:a="http://schemas.openxmlformats.org/drawingml/2006/main" prst="line">
            <a:avLst/>
          </a:prstGeom>
          <a:noFill xmlns:a="http://schemas.openxmlformats.org/drawingml/2006/main"/>
          <a:ln xmlns:a="http://schemas.openxmlformats.org/drawingml/2006/main" w="66675">
            <a:solidFill>
              <a:srgbClr val="48CBAA"/>
            </a:solidFill>
            <a:prstDash val="solid"/>
          </a:ln>
        </p:spPr>
      </p:sp>
      <p:sp>
        <p:nvSpPr>
          <p:cNvPr id="16" name="">
            <a:extLst xmlns:a="http://schemas.openxmlformats.org/drawingml/2006/main">
              <a:ext uri="{FF2B5EF4-FFF2-40B4-BE49-F238E27FC236}">
                <a16:creationId xmlns:a16="http://schemas.microsoft.com/office/drawing/2014/main" id="{58904F5D-7119-4E3C-AD1E-9279BDF01FC6}"/>
              </a:ext>
            </a:extLst>
          </p:cNvPr>
          <p:cNvSpPr>
            <a:spLocks xmlns:a="http://schemas.openxmlformats.org/drawingml/2006/main" noGrp="1"/>
          </p:cNvSpPr>
          <p:nvPr/>
        </p:nvSpPr>
        <p:spPr>
          <a:xfrm xmlns:a="http://schemas.openxmlformats.org/drawingml/2006/main">
            <a:off x="4905375" y="311467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132A3A"/>
                </a:solidFill>
                <a:latin typeface="Aptos"/>
                <a:ea typeface="Aptos"/>
                <a:cs typeface="Aptos"/>
              </a:defRPr>
            </a:pPr>
            <a:r>
              <a:rPr sz="2025" b="1">
                <a:solidFill>
                  <a:srgbClr val="132A3A"/>
                </a:solidFill>
                <a:latin typeface="Aptos"/>
                <a:ea typeface="Aptos"/>
                <a:cs typeface="Aptos"/>
              </a:rPr>
              <a:t>OSPF area 0</a:t>
            </a:r>
          </a:p>
        </p:txBody>
      </p:sp>
    </p:spTree>
    <p:extLst>
      <p:ext uri="{BB962C8B-B14F-4D97-AF65-F5344CB8AC3E}">
        <p14:creationId xmlns:p14="http://schemas.microsoft.com/office/powerpoint/2010/main" val="806437764"/>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A8259AD-915B-4A1A-8B15-1EED9DD02A4F}"/>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F8FCFD"/>
                </a:solidFill>
                <a:latin typeface="Aptos"/>
                <a:ea typeface="Aptos"/>
                <a:cs typeface="Aptos"/>
              </a:defRPr>
            </a:pPr>
            <a:r>
              <a:rPr sz="3150" b="1">
                <a:solidFill>
                  <a:srgbClr val="F8FCFD"/>
                </a:solidFill>
                <a:latin typeface="Aptos"/>
                <a:ea typeface="Aptos"/>
                <a:cs typeface="Aptos"/>
              </a:rPr>
              <a:t>EtherChannel  |  physical links</a:t>
            </a:r>
          </a:p>
        </p:txBody>
      </p:sp>
      <p:sp>
        <p:nvSpPr>
          <p:cNvPr id="2" name="">
            <a:extLst xmlns:a="http://schemas.openxmlformats.org/drawingml/2006/main">
              <a:ext uri="{FF2B5EF4-FFF2-40B4-BE49-F238E27FC236}">
                <a16:creationId xmlns:a16="http://schemas.microsoft.com/office/drawing/2014/main" id="{340DFE0A-5CA7-4D76-AA2D-C9DA7D1C2841}"/>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811375-7D80-42F0-90C1-1E12835AD48F}"/>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98C6D1"/>
                </a:solidFill>
                <a:latin typeface="Aptos"/>
                <a:ea typeface="Aptos"/>
                <a:cs typeface="Aptos"/>
              </a:defRPr>
            </a:pPr>
            <a:r>
              <a:rPr sz="1275" b="0">
                <a:solidFill>
                  <a:srgbClr val="98C6D1"/>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6BE7E76C-9A12-4011-A3CF-67CC2A54E10D}"/>
              </a:ext>
            </a:extLst>
          </p:cNvPr>
          <p:cNvSpPr>
            <a:spLocks xmlns:a="http://schemas.openxmlformats.org/drawingml/2006/main" noGrp="1"/>
          </p:cNvSpPr>
          <p:nvPr/>
        </p:nvSpPr>
        <p:spPr>
          <a:xfrm xmlns:a="http://schemas.openxmlformats.org/drawingml/2006/main">
            <a:off x="1123950" y="2790825"/>
            <a:ext cx="2428875" cy="1381125"/>
          </a:xfrm>
          <a:prstGeom xmlns:a="http://schemas.openxmlformats.org/drawingml/2006/main" prst="roundRect">
            <a:avLst>
              <a:gd name="adj" fmla="val 9655"/>
            </a:avLst>
          </a:prstGeom>
          <a:solidFill xmlns:a="http://schemas.openxmlformats.org/drawingml/2006/main">
            <a:srgbClr val="F8FCFD"/>
          </a:solidFill>
          <a:ln xmlns:a="http://schemas.openxmlformats.org/drawingml/2006/main" w="9525">
            <a:solidFill>
              <a:srgbClr val="18CBE2"/>
            </a:solidFill>
            <a:prstDash val="solid"/>
          </a:ln>
        </p:spPr>
      </p:sp>
      <p:sp>
        <p:nvSpPr>
          <p:cNvPr id="5" name="">
            <a:extLst xmlns:a="http://schemas.openxmlformats.org/drawingml/2006/main">
              <a:ext uri="{FF2B5EF4-FFF2-40B4-BE49-F238E27FC236}">
                <a16:creationId xmlns:a16="http://schemas.microsoft.com/office/drawing/2014/main" id="{1B7E9BCD-FF46-4BDD-AB7B-9B704EF555D1}"/>
              </a:ext>
            </a:extLst>
          </p:cNvPr>
          <p:cNvSpPr>
            <a:spLocks xmlns:a="http://schemas.openxmlformats.org/drawingml/2006/main" noGrp="1"/>
          </p:cNvSpPr>
          <p:nvPr/>
        </p:nvSpPr>
        <p:spPr>
          <a:xfrm xmlns:a="http://schemas.openxmlformats.org/drawingml/2006/main">
            <a:off x="1314450" y="2981325"/>
            <a:ext cx="2047875" cy="114300"/>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F795B80-4FDB-4836-BD00-D641DF1A6104}"/>
              </a:ext>
            </a:extLst>
          </p:cNvPr>
          <p:cNvSpPr>
            <a:spLocks xmlns:a="http://schemas.openxmlformats.org/drawingml/2006/main" noGrp="1"/>
          </p:cNvSpPr>
          <p:nvPr/>
        </p:nvSpPr>
        <p:spPr>
          <a:xfrm xmlns:a="http://schemas.openxmlformats.org/drawingml/2006/main">
            <a:off x="143827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492781-AE89-4C85-AAB1-99AE47E1EEDC}"/>
              </a:ext>
            </a:extLst>
          </p:cNvPr>
          <p:cNvSpPr>
            <a:spLocks xmlns:a="http://schemas.openxmlformats.org/drawingml/2006/main" noGrp="1"/>
          </p:cNvSpPr>
          <p:nvPr/>
        </p:nvSpPr>
        <p:spPr>
          <a:xfrm xmlns:a="http://schemas.openxmlformats.org/drawingml/2006/main">
            <a:off x="173355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9E7833-4CB0-4A10-A8DB-0987F6ABC0FF}"/>
              </a:ext>
            </a:extLst>
          </p:cNvPr>
          <p:cNvSpPr>
            <a:spLocks xmlns:a="http://schemas.openxmlformats.org/drawingml/2006/main" noGrp="1"/>
          </p:cNvSpPr>
          <p:nvPr/>
        </p:nvSpPr>
        <p:spPr>
          <a:xfrm xmlns:a="http://schemas.openxmlformats.org/drawingml/2006/main">
            <a:off x="202882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4C71B8-366C-478C-AF7E-F011C77F7855}"/>
              </a:ext>
            </a:extLst>
          </p:cNvPr>
          <p:cNvSpPr>
            <a:spLocks xmlns:a="http://schemas.openxmlformats.org/drawingml/2006/main" noGrp="1"/>
          </p:cNvSpPr>
          <p:nvPr/>
        </p:nvSpPr>
        <p:spPr>
          <a:xfrm xmlns:a="http://schemas.openxmlformats.org/drawingml/2006/main">
            <a:off x="232410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1042CAA-0E5C-409E-BBEB-1AB884D88445}"/>
              </a:ext>
            </a:extLst>
          </p:cNvPr>
          <p:cNvSpPr>
            <a:spLocks xmlns:a="http://schemas.openxmlformats.org/drawingml/2006/main" noGrp="1"/>
          </p:cNvSpPr>
          <p:nvPr/>
        </p:nvSpPr>
        <p:spPr>
          <a:xfrm xmlns:a="http://schemas.openxmlformats.org/drawingml/2006/main">
            <a:off x="1238250" y="3448050"/>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SW-L2-0</a:t>
            </a:r>
          </a:p>
        </p:txBody>
      </p:sp>
      <p:sp>
        <p:nvSpPr>
          <p:cNvPr id="11" name="">
            <a:extLst xmlns:a="http://schemas.openxmlformats.org/drawingml/2006/main">
              <a:ext uri="{FF2B5EF4-FFF2-40B4-BE49-F238E27FC236}">
                <a16:creationId xmlns:a16="http://schemas.microsoft.com/office/drawing/2014/main" id="{C1D7ED09-5E10-4769-8766-955F7207C89D}"/>
              </a:ext>
            </a:extLst>
          </p:cNvPr>
          <p:cNvSpPr>
            <a:spLocks xmlns:a="http://schemas.openxmlformats.org/drawingml/2006/main" noGrp="1"/>
          </p:cNvSpPr>
          <p:nvPr/>
        </p:nvSpPr>
        <p:spPr>
          <a:xfrm xmlns:a="http://schemas.openxmlformats.org/drawingml/2006/main">
            <a:off x="8620125" y="2790825"/>
            <a:ext cx="2428875" cy="1381125"/>
          </a:xfrm>
          <a:prstGeom xmlns:a="http://schemas.openxmlformats.org/drawingml/2006/main" prst="roundRect">
            <a:avLst>
              <a:gd name="adj" fmla="val 9655"/>
            </a:avLst>
          </a:prstGeom>
          <a:solidFill xmlns:a="http://schemas.openxmlformats.org/drawingml/2006/main">
            <a:srgbClr val="F8FCFD"/>
          </a:solidFill>
          <a:ln xmlns:a="http://schemas.openxmlformats.org/drawingml/2006/main" w="9525">
            <a:solidFill>
              <a:srgbClr val="18CBE2"/>
            </a:solidFill>
            <a:prstDash val="solid"/>
          </a:ln>
        </p:spPr>
      </p:sp>
      <p:sp>
        <p:nvSpPr>
          <p:cNvPr id="12" name="">
            <a:extLst xmlns:a="http://schemas.openxmlformats.org/drawingml/2006/main">
              <a:ext uri="{FF2B5EF4-FFF2-40B4-BE49-F238E27FC236}">
                <a16:creationId xmlns:a16="http://schemas.microsoft.com/office/drawing/2014/main" id="{268166D6-CB53-46EA-989E-A7FF3EE9E87E}"/>
              </a:ext>
            </a:extLst>
          </p:cNvPr>
          <p:cNvSpPr>
            <a:spLocks xmlns:a="http://schemas.openxmlformats.org/drawingml/2006/main" noGrp="1"/>
          </p:cNvSpPr>
          <p:nvPr/>
        </p:nvSpPr>
        <p:spPr>
          <a:xfrm xmlns:a="http://schemas.openxmlformats.org/drawingml/2006/main">
            <a:off x="8810625" y="2981325"/>
            <a:ext cx="2047875" cy="114300"/>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7F8A2E-3813-438C-B887-88AB7666B572}"/>
              </a:ext>
            </a:extLst>
          </p:cNvPr>
          <p:cNvSpPr>
            <a:spLocks xmlns:a="http://schemas.openxmlformats.org/drawingml/2006/main" noGrp="1"/>
          </p:cNvSpPr>
          <p:nvPr/>
        </p:nvSpPr>
        <p:spPr>
          <a:xfrm xmlns:a="http://schemas.openxmlformats.org/drawingml/2006/main">
            <a:off x="893445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1C87FF-1CF6-40B4-8377-4FF32B39D4B9}"/>
              </a:ext>
            </a:extLst>
          </p:cNvPr>
          <p:cNvSpPr>
            <a:spLocks xmlns:a="http://schemas.openxmlformats.org/drawingml/2006/main" noGrp="1"/>
          </p:cNvSpPr>
          <p:nvPr/>
        </p:nvSpPr>
        <p:spPr>
          <a:xfrm xmlns:a="http://schemas.openxmlformats.org/drawingml/2006/main">
            <a:off x="922972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F7ECDFC-1733-4489-AD8C-217BC86B9A06}"/>
              </a:ext>
            </a:extLst>
          </p:cNvPr>
          <p:cNvSpPr>
            <a:spLocks xmlns:a="http://schemas.openxmlformats.org/drawingml/2006/main" noGrp="1"/>
          </p:cNvSpPr>
          <p:nvPr/>
        </p:nvSpPr>
        <p:spPr>
          <a:xfrm xmlns:a="http://schemas.openxmlformats.org/drawingml/2006/main">
            <a:off x="952500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94FC62-9729-4385-859D-2BD72FC14B07}"/>
              </a:ext>
            </a:extLst>
          </p:cNvPr>
          <p:cNvSpPr>
            <a:spLocks xmlns:a="http://schemas.openxmlformats.org/drawingml/2006/main" noGrp="1"/>
          </p:cNvSpPr>
          <p:nvPr/>
        </p:nvSpPr>
        <p:spPr>
          <a:xfrm xmlns:a="http://schemas.openxmlformats.org/drawingml/2006/main">
            <a:off x="982027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93E0D36-4B50-4314-A084-A1ED4EE490FC}"/>
              </a:ext>
            </a:extLst>
          </p:cNvPr>
          <p:cNvSpPr>
            <a:spLocks xmlns:a="http://schemas.openxmlformats.org/drawingml/2006/main" noGrp="1"/>
          </p:cNvSpPr>
          <p:nvPr/>
        </p:nvSpPr>
        <p:spPr>
          <a:xfrm xmlns:a="http://schemas.openxmlformats.org/drawingml/2006/main">
            <a:off x="8734425" y="3448050"/>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SW-L2-1</a:t>
            </a:r>
          </a:p>
        </p:txBody>
      </p:sp>
      <p:sp>
        <p:nvSpPr>
          <p:cNvPr id="18" name="">
            <a:extLst xmlns:a="http://schemas.openxmlformats.org/drawingml/2006/main">
              <a:ext uri="{FF2B5EF4-FFF2-40B4-BE49-F238E27FC236}">
                <a16:creationId xmlns:a16="http://schemas.microsoft.com/office/drawing/2014/main" id="{34C51DEA-9B60-4B79-8CE1-7288DEEE767F}"/>
              </a:ext>
            </a:extLst>
          </p:cNvPr>
          <p:cNvSpPr>
            <a:spLocks xmlns:a="http://schemas.openxmlformats.org/drawingml/2006/main" noGrp="1"/>
          </p:cNvSpPr>
          <p:nvPr/>
        </p:nvSpPr>
        <p:spPr>
          <a:xfrm xmlns:a="http://schemas.openxmlformats.org/drawingml/2006/main" flipV="0">
            <a:off x="3714750" y="3143250"/>
            <a:ext cx="4733925" cy="0"/>
          </a:xfrm>
          <a:prstGeom xmlns:a="http://schemas.openxmlformats.org/drawingml/2006/main" prst="line">
            <a:avLst/>
          </a:prstGeom>
          <a:noFill xmlns:a="http://schemas.openxmlformats.org/drawingml/2006/main"/>
          <a:ln xmlns:a="http://schemas.openxmlformats.org/drawingml/2006/main" w="114300">
            <a:solidFill>
              <a:srgbClr val="18CBE2"/>
            </a:solidFill>
            <a:prstDash val="solid"/>
          </a:ln>
        </p:spPr>
      </p:sp>
      <p:sp>
        <p:nvSpPr>
          <p:cNvPr id="19" name="">
            <a:extLst xmlns:a="http://schemas.openxmlformats.org/drawingml/2006/main">
              <a:ext uri="{FF2B5EF4-FFF2-40B4-BE49-F238E27FC236}">
                <a16:creationId xmlns:a16="http://schemas.microsoft.com/office/drawing/2014/main" id="{B5778349-DEC6-491D-84FC-265D454C021A}"/>
              </a:ext>
            </a:extLst>
          </p:cNvPr>
          <p:cNvSpPr>
            <a:spLocks xmlns:a="http://schemas.openxmlformats.org/drawingml/2006/main" noGrp="1"/>
          </p:cNvSpPr>
          <p:nvPr/>
        </p:nvSpPr>
        <p:spPr>
          <a:xfrm xmlns:a="http://schemas.openxmlformats.org/drawingml/2006/main" flipV="0">
            <a:off x="3714750" y="3848100"/>
            <a:ext cx="4733925" cy="0"/>
          </a:xfrm>
          <a:prstGeom xmlns:a="http://schemas.openxmlformats.org/drawingml/2006/main" prst="line">
            <a:avLst/>
          </a:prstGeom>
          <a:noFill xmlns:a="http://schemas.openxmlformats.org/drawingml/2006/main"/>
          <a:ln xmlns:a="http://schemas.openxmlformats.org/drawingml/2006/main" w="114300">
            <a:solidFill>
              <a:srgbClr val="2089C4"/>
            </a:solidFill>
            <a:prstDash val="solid"/>
          </a:ln>
        </p:spPr>
      </p:sp>
      <p:sp>
        <p:nvSpPr>
          <p:cNvPr id="20" name="">
            <a:extLst xmlns:a="http://schemas.openxmlformats.org/drawingml/2006/main">
              <a:ext uri="{FF2B5EF4-FFF2-40B4-BE49-F238E27FC236}">
                <a16:creationId xmlns:a16="http://schemas.microsoft.com/office/drawing/2014/main" id="{A1C5701D-B4E0-4B16-80F0-BBCA48B3E4D5}"/>
              </a:ext>
            </a:extLst>
          </p:cNvPr>
          <p:cNvSpPr>
            <a:spLocks xmlns:a="http://schemas.openxmlformats.org/drawingml/2006/main" noGrp="1"/>
          </p:cNvSpPr>
          <p:nvPr/>
        </p:nvSpPr>
        <p:spPr>
          <a:xfrm xmlns:a="http://schemas.openxmlformats.org/drawingml/2006/main">
            <a:off x="5429250" y="268605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8FCFD"/>
                </a:solidFill>
                <a:latin typeface="Aptos"/>
                <a:ea typeface="Aptos"/>
                <a:cs typeface="Aptos"/>
              </a:defRPr>
            </a:pPr>
            <a:r>
              <a:rPr sz="1800" b="1">
                <a:solidFill>
                  <a:srgbClr val="F8FCFD"/>
                </a:solidFill>
                <a:latin typeface="Aptos"/>
                <a:ea typeface="Aptos"/>
                <a:cs typeface="Aptos"/>
              </a:rPr>
              <a:t>F0/8</a:t>
            </a:r>
          </a:p>
        </p:txBody>
      </p:sp>
      <p:sp>
        <p:nvSpPr>
          <p:cNvPr id="21" name="">
            <a:extLst xmlns:a="http://schemas.openxmlformats.org/drawingml/2006/main">
              <a:ext uri="{FF2B5EF4-FFF2-40B4-BE49-F238E27FC236}">
                <a16:creationId xmlns:a16="http://schemas.microsoft.com/office/drawing/2014/main" id="{43A3389D-224C-4909-9198-E18EE2DD20DC}"/>
              </a:ext>
            </a:extLst>
          </p:cNvPr>
          <p:cNvSpPr>
            <a:spLocks xmlns:a="http://schemas.openxmlformats.org/drawingml/2006/main" noGrp="1"/>
          </p:cNvSpPr>
          <p:nvPr/>
        </p:nvSpPr>
        <p:spPr>
          <a:xfrm xmlns:a="http://schemas.openxmlformats.org/drawingml/2006/main">
            <a:off x="5429250" y="4095750"/>
            <a:ext cx="133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8FCFD"/>
                </a:solidFill>
                <a:latin typeface="Aptos"/>
                <a:ea typeface="Aptos"/>
                <a:cs typeface="Aptos"/>
              </a:defRPr>
            </a:pPr>
            <a:r>
              <a:rPr sz="1800" b="1">
                <a:solidFill>
                  <a:srgbClr val="F8FCFD"/>
                </a:solidFill>
                <a:latin typeface="Aptos"/>
                <a:ea typeface="Aptos"/>
                <a:cs typeface="Aptos"/>
              </a:rPr>
              <a:t>F0/11</a:t>
            </a:r>
          </a:p>
        </p:txBody>
      </p:sp>
      <p:sp>
        <p:nvSpPr>
          <p:cNvPr id="22" name="">
            <a:extLst xmlns:a="http://schemas.openxmlformats.org/drawingml/2006/main">
              <a:ext uri="{FF2B5EF4-FFF2-40B4-BE49-F238E27FC236}">
                <a16:creationId xmlns:a16="http://schemas.microsoft.com/office/drawing/2014/main" id="{AA4B4B4C-BDE8-41AA-AD5A-4ACFF6EC8D32}"/>
              </a:ext>
            </a:extLst>
          </p:cNvPr>
          <p:cNvSpPr>
            <a:spLocks xmlns:a="http://schemas.openxmlformats.org/drawingml/2006/main" noGrp="1"/>
          </p:cNvSpPr>
          <p:nvPr/>
        </p:nvSpPr>
        <p:spPr>
          <a:xfrm xmlns:a="http://schemas.openxmlformats.org/drawingml/2006/main">
            <a:off x="2886075" y="5238750"/>
            <a:ext cx="6429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F8FCFD"/>
                </a:solidFill>
                <a:latin typeface="Aptos"/>
                <a:ea typeface="Aptos"/>
                <a:cs typeface="Aptos"/>
              </a:defRPr>
            </a:pPr>
            <a:r>
              <a:rPr sz="2250" b="0">
                <a:solidFill>
                  <a:srgbClr val="F8FCFD"/>
                </a:solidFill>
                <a:latin typeface="Aptos"/>
                <a:ea typeface="Aptos"/>
                <a:cs typeface="Aptos"/>
              </a:rPr>
              <a:t>Two separate physical cables</a:t>
            </a:r>
          </a:p>
        </p:txBody>
      </p:sp>
    </p:spTree>
    <p:extLst>
      <p:ext uri="{BB962C8B-B14F-4D97-AF65-F5344CB8AC3E}">
        <p14:creationId xmlns:p14="http://schemas.microsoft.com/office/powerpoint/2010/main" val="1683198244"/>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995E0D0-0656-437F-87EC-4717DE4DE122}"/>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F8FCFD"/>
                </a:solidFill>
                <a:latin typeface="Aptos"/>
                <a:ea typeface="Aptos"/>
                <a:cs typeface="Aptos"/>
              </a:defRPr>
            </a:pPr>
            <a:r>
              <a:rPr sz="3150" b="1">
                <a:solidFill>
                  <a:srgbClr val="F8FCFD"/>
                </a:solidFill>
                <a:latin typeface="Aptos"/>
                <a:ea typeface="Aptos"/>
                <a:cs typeface="Aptos"/>
              </a:rPr>
              <a:t>EtherChannel  |  one logical trunk</a:t>
            </a:r>
          </a:p>
        </p:txBody>
      </p:sp>
      <p:sp>
        <p:nvSpPr>
          <p:cNvPr id="2" name="">
            <a:extLst xmlns:a="http://schemas.openxmlformats.org/drawingml/2006/main">
              <a:ext uri="{FF2B5EF4-FFF2-40B4-BE49-F238E27FC236}">
                <a16:creationId xmlns:a16="http://schemas.microsoft.com/office/drawing/2014/main" id="{7CD7B1DC-155C-47AF-8997-295CCD487D82}"/>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D757B8D-D53A-4392-B941-E7E2421D204F}"/>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98C6D1"/>
                </a:solidFill>
                <a:latin typeface="Aptos"/>
                <a:ea typeface="Aptos"/>
                <a:cs typeface="Aptos"/>
              </a:defRPr>
            </a:pPr>
            <a:r>
              <a:rPr sz="1275" b="0">
                <a:solidFill>
                  <a:srgbClr val="98C6D1"/>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B03897DA-09D1-40E8-B614-7AEF9E1C447F}"/>
              </a:ext>
            </a:extLst>
          </p:cNvPr>
          <p:cNvSpPr>
            <a:spLocks xmlns:a="http://schemas.openxmlformats.org/drawingml/2006/main" noGrp="1"/>
          </p:cNvSpPr>
          <p:nvPr/>
        </p:nvSpPr>
        <p:spPr>
          <a:xfrm xmlns:a="http://schemas.openxmlformats.org/drawingml/2006/main">
            <a:off x="1123950" y="2790825"/>
            <a:ext cx="2428875" cy="1381125"/>
          </a:xfrm>
          <a:prstGeom xmlns:a="http://schemas.openxmlformats.org/drawingml/2006/main" prst="roundRect">
            <a:avLst>
              <a:gd name="adj" fmla="val 9655"/>
            </a:avLst>
          </a:prstGeom>
          <a:solidFill xmlns:a="http://schemas.openxmlformats.org/drawingml/2006/main">
            <a:srgbClr val="F8FCFD"/>
          </a:solidFill>
          <a:ln xmlns:a="http://schemas.openxmlformats.org/drawingml/2006/main" w="9525">
            <a:solidFill>
              <a:srgbClr val="18CBE2"/>
            </a:solidFill>
            <a:prstDash val="solid"/>
          </a:ln>
        </p:spPr>
      </p:sp>
      <p:sp>
        <p:nvSpPr>
          <p:cNvPr id="5" name="">
            <a:extLst xmlns:a="http://schemas.openxmlformats.org/drawingml/2006/main">
              <a:ext uri="{FF2B5EF4-FFF2-40B4-BE49-F238E27FC236}">
                <a16:creationId xmlns:a16="http://schemas.microsoft.com/office/drawing/2014/main" id="{84D5D175-5993-4A56-B851-4B56C7246D72}"/>
              </a:ext>
            </a:extLst>
          </p:cNvPr>
          <p:cNvSpPr>
            <a:spLocks xmlns:a="http://schemas.openxmlformats.org/drawingml/2006/main" noGrp="1"/>
          </p:cNvSpPr>
          <p:nvPr/>
        </p:nvSpPr>
        <p:spPr>
          <a:xfrm xmlns:a="http://schemas.openxmlformats.org/drawingml/2006/main">
            <a:off x="1314450" y="2981325"/>
            <a:ext cx="2047875" cy="114300"/>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AB72BC-2833-4001-9170-BB096582D184}"/>
              </a:ext>
            </a:extLst>
          </p:cNvPr>
          <p:cNvSpPr>
            <a:spLocks xmlns:a="http://schemas.openxmlformats.org/drawingml/2006/main" noGrp="1"/>
          </p:cNvSpPr>
          <p:nvPr/>
        </p:nvSpPr>
        <p:spPr>
          <a:xfrm xmlns:a="http://schemas.openxmlformats.org/drawingml/2006/main">
            <a:off x="143827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70EB35E-BF94-479A-A9D5-0D5D8F466B6D}"/>
              </a:ext>
            </a:extLst>
          </p:cNvPr>
          <p:cNvSpPr>
            <a:spLocks xmlns:a="http://schemas.openxmlformats.org/drawingml/2006/main" noGrp="1"/>
          </p:cNvSpPr>
          <p:nvPr/>
        </p:nvSpPr>
        <p:spPr>
          <a:xfrm xmlns:a="http://schemas.openxmlformats.org/drawingml/2006/main">
            <a:off x="173355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E58094F-222A-469B-9665-270B7EB493B6}"/>
              </a:ext>
            </a:extLst>
          </p:cNvPr>
          <p:cNvSpPr>
            <a:spLocks xmlns:a="http://schemas.openxmlformats.org/drawingml/2006/main" noGrp="1"/>
          </p:cNvSpPr>
          <p:nvPr/>
        </p:nvSpPr>
        <p:spPr>
          <a:xfrm xmlns:a="http://schemas.openxmlformats.org/drawingml/2006/main">
            <a:off x="202882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1998A2B-3101-47E3-B344-36603DA5CF77}"/>
              </a:ext>
            </a:extLst>
          </p:cNvPr>
          <p:cNvSpPr>
            <a:spLocks xmlns:a="http://schemas.openxmlformats.org/drawingml/2006/main" noGrp="1"/>
          </p:cNvSpPr>
          <p:nvPr/>
        </p:nvSpPr>
        <p:spPr>
          <a:xfrm xmlns:a="http://schemas.openxmlformats.org/drawingml/2006/main">
            <a:off x="232410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DAEE93-ECA9-4B76-89FE-2F44BF82B9D6}"/>
              </a:ext>
            </a:extLst>
          </p:cNvPr>
          <p:cNvSpPr>
            <a:spLocks xmlns:a="http://schemas.openxmlformats.org/drawingml/2006/main" noGrp="1"/>
          </p:cNvSpPr>
          <p:nvPr/>
        </p:nvSpPr>
        <p:spPr>
          <a:xfrm xmlns:a="http://schemas.openxmlformats.org/drawingml/2006/main">
            <a:off x="1238250" y="3448050"/>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SW-L2-0</a:t>
            </a:r>
          </a:p>
        </p:txBody>
      </p:sp>
      <p:sp>
        <p:nvSpPr>
          <p:cNvPr id="11" name="">
            <a:extLst xmlns:a="http://schemas.openxmlformats.org/drawingml/2006/main">
              <a:ext uri="{FF2B5EF4-FFF2-40B4-BE49-F238E27FC236}">
                <a16:creationId xmlns:a16="http://schemas.microsoft.com/office/drawing/2014/main" id="{FF24DA73-FB29-4916-BCF5-DA9567B8B362}"/>
              </a:ext>
            </a:extLst>
          </p:cNvPr>
          <p:cNvSpPr>
            <a:spLocks xmlns:a="http://schemas.openxmlformats.org/drawingml/2006/main" noGrp="1"/>
          </p:cNvSpPr>
          <p:nvPr/>
        </p:nvSpPr>
        <p:spPr>
          <a:xfrm xmlns:a="http://schemas.openxmlformats.org/drawingml/2006/main">
            <a:off x="8620125" y="2790825"/>
            <a:ext cx="2428875" cy="1381125"/>
          </a:xfrm>
          <a:prstGeom xmlns:a="http://schemas.openxmlformats.org/drawingml/2006/main" prst="roundRect">
            <a:avLst>
              <a:gd name="adj" fmla="val 9655"/>
            </a:avLst>
          </a:prstGeom>
          <a:solidFill xmlns:a="http://schemas.openxmlformats.org/drawingml/2006/main">
            <a:srgbClr val="F8FCFD"/>
          </a:solidFill>
          <a:ln xmlns:a="http://schemas.openxmlformats.org/drawingml/2006/main" w="9525">
            <a:solidFill>
              <a:srgbClr val="18CBE2"/>
            </a:solidFill>
            <a:prstDash val="solid"/>
          </a:ln>
        </p:spPr>
      </p:sp>
      <p:sp>
        <p:nvSpPr>
          <p:cNvPr id="12" name="">
            <a:extLst xmlns:a="http://schemas.openxmlformats.org/drawingml/2006/main">
              <a:ext uri="{FF2B5EF4-FFF2-40B4-BE49-F238E27FC236}">
                <a16:creationId xmlns:a16="http://schemas.microsoft.com/office/drawing/2014/main" id="{ED8641C3-19AD-479E-AA49-CC8E7B63E8F5}"/>
              </a:ext>
            </a:extLst>
          </p:cNvPr>
          <p:cNvSpPr>
            <a:spLocks xmlns:a="http://schemas.openxmlformats.org/drawingml/2006/main" noGrp="1"/>
          </p:cNvSpPr>
          <p:nvPr/>
        </p:nvSpPr>
        <p:spPr>
          <a:xfrm xmlns:a="http://schemas.openxmlformats.org/drawingml/2006/main">
            <a:off x="8810625" y="2981325"/>
            <a:ext cx="2047875" cy="114300"/>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38E96A1-CE40-45EA-8857-419EE765FE93}"/>
              </a:ext>
            </a:extLst>
          </p:cNvPr>
          <p:cNvSpPr>
            <a:spLocks xmlns:a="http://schemas.openxmlformats.org/drawingml/2006/main" noGrp="1"/>
          </p:cNvSpPr>
          <p:nvPr/>
        </p:nvSpPr>
        <p:spPr>
          <a:xfrm xmlns:a="http://schemas.openxmlformats.org/drawingml/2006/main">
            <a:off x="893445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B438AE-5914-4745-86EF-55B2E9F93B86}"/>
              </a:ext>
            </a:extLst>
          </p:cNvPr>
          <p:cNvSpPr>
            <a:spLocks xmlns:a="http://schemas.openxmlformats.org/drawingml/2006/main" noGrp="1"/>
          </p:cNvSpPr>
          <p:nvPr/>
        </p:nvSpPr>
        <p:spPr>
          <a:xfrm xmlns:a="http://schemas.openxmlformats.org/drawingml/2006/main">
            <a:off x="922972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B5D7D9C-1B9B-4548-BED1-9C78006DC42A}"/>
              </a:ext>
            </a:extLst>
          </p:cNvPr>
          <p:cNvSpPr>
            <a:spLocks xmlns:a="http://schemas.openxmlformats.org/drawingml/2006/main" noGrp="1"/>
          </p:cNvSpPr>
          <p:nvPr/>
        </p:nvSpPr>
        <p:spPr>
          <a:xfrm xmlns:a="http://schemas.openxmlformats.org/drawingml/2006/main">
            <a:off x="9525000"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BF1E0CB-28F1-4D3B-913A-76125BB87644}"/>
              </a:ext>
            </a:extLst>
          </p:cNvPr>
          <p:cNvSpPr>
            <a:spLocks xmlns:a="http://schemas.openxmlformats.org/drawingml/2006/main" noGrp="1"/>
          </p:cNvSpPr>
          <p:nvPr/>
        </p:nvSpPr>
        <p:spPr>
          <a:xfrm xmlns:a="http://schemas.openxmlformats.org/drawingml/2006/main">
            <a:off x="9820275" y="3200400"/>
            <a:ext cx="114300" cy="114300"/>
          </a:xfrm>
          <a:prstGeom xmlns:a="http://schemas.openxmlformats.org/drawingml/2006/main" prst="ellipse">
            <a:avLst/>
          </a:prstGeom>
          <a:solidFill xmlns:a="http://schemas.openxmlformats.org/drawingml/2006/main">
            <a:srgbClr val="18CBE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EF4853A-2FD8-4CF8-A1E2-C72C8CA5ADD6}"/>
              </a:ext>
            </a:extLst>
          </p:cNvPr>
          <p:cNvSpPr>
            <a:spLocks xmlns:a="http://schemas.openxmlformats.org/drawingml/2006/main" noGrp="1"/>
          </p:cNvSpPr>
          <p:nvPr/>
        </p:nvSpPr>
        <p:spPr>
          <a:xfrm xmlns:a="http://schemas.openxmlformats.org/drawingml/2006/main">
            <a:off x="8734425" y="3448050"/>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SW-L2-1</a:t>
            </a:r>
          </a:p>
        </p:txBody>
      </p:sp>
      <p:sp>
        <p:nvSpPr>
          <p:cNvPr id="18" name="">
            <a:extLst xmlns:a="http://schemas.openxmlformats.org/drawingml/2006/main">
              <a:ext uri="{FF2B5EF4-FFF2-40B4-BE49-F238E27FC236}">
                <a16:creationId xmlns:a16="http://schemas.microsoft.com/office/drawing/2014/main" id="{FBA03D07-DC07-4055-BE28-759B4C3B1911}"/>
              </a:ext>
            </a:extLst>
          </p:cNvPr>
          <p:cNvSpPr>
            <a:spLocks xmlns:a="http://schemas.openxmlformats.org/drawingml/2006/main" noGrp="1"/>
          </p:cNvSpPr>
          <p:nvPr/>
        </p:nvSpPr>
        <p:spPr>
          <a:xfrm xmlns:a="http://schemas.openxmlformats.org/drawingml/2006/main" flipV="0">
            <a:off x="3714750" y="3486150"/>
            <a:ext cx="4733925" cy="0"/>
          </a:xfrm>
          <a:prstGeom xmlns:a="http://schemas.openxmlformats.org/drawingml/2006/main" prst="line">
            <a:avLst/>
          </a:prstGeom>
          <a:noFill xmlns:a="http://schemas.openxmlformats.org/drawingml/2006/main"/>
          <a:ln xmlns:a="http://schemas.openxmlformats.org/drawingml/2006/main" w="257175">
            <a:solidFill>
              <a:srgbClr val="48CBAA"/>
            </a:solidFill>
            <a:prstDash val="solid"/>
          </a:ln>
        </p:spPr>
      </p:sp>
      <p:sp>
        <p:nvSpPr>
          <p:cNvPr id="19" name="">
            <a:extLst xmlns:a="http://schemas.openxmlformats.org/drawingml/2006/main">
              <a:ext uri="{FF2B5EF4-FFF2-40B4-BE49-F238E27FC236}">
                <a16:creationId xmlns:a16="http://schemas.microsoft.com/office/drawing/2014/main" id="{A276CFC8-FE93-45FA-9F2C-C6F22DDA2F53}"/>
              </a:ext>
            </a:extLst>
          </p:cNvPr>
          <p:cNvSpPr>
            <a:spLocks xmlns:a="http://schemas.openxmlformats.org/drawingml/2006/main" noGrp="1"/>
          </p:cNvSpPr>
          <p:nvPr/>
        </p:nvSpPr>
        <p:spPr>
          <a:xfrm xmlns:a="http://schemas.openxmlformats.org/drawingml/2006/main">
            <a:off x="4667250" y="2905125"/>
            <a:ext cx="2809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1">
                <a:solidFill>
                  <a:srgbClr val="F8FCFD"/>
                </a:solidFill>
                <a:latin typeface="Aptos"/>
                <a:ea typeface="Aptos"/>
                <a:cs typeface="Aptos"/>
              </a:defRPr>
            </a:pPr>
            <a:r>
              <a:rPr sz="2100" b="1">
                <a:solidFill>
                  <a:srgbClr val="F8FCFD"/>
                </a:solidFill>
                <a:latin typeface="Aptos"/>
                <a:ea typeface="Aptos"/>
                <a:cs typeface="Aptos"/>
              </a:rPr>
              <a:t>Port-channel1</a:t>
            </a:r>
          </a:p>
        </p:txBody>
      </p:sp>
      <p:sp>
        <p:nvSpPr>
          <p:cNvPr id="20" name="">
            <a:extLst xmlns:a="http://schemas.openxmlformats.org/drawingml/2006/main">
              <a:ext uri="{FF2B5EF4-FFF2-40B4-BE49-F238E27FC236}">
                <a16:creationId xmlns:a16="http://schemas.microsoft.com/office/drawing/2014/main" id="{6ACF328B-19B9-4983-8B27-A449236B2B34}"/>
              </a:ext>
            </a:extLst>
          </p:cNvPr>
          <p:cNvSpPr>
            <a:spLocks xmlns:a="http://schemas.openxmlformats.org/drawingml/2006/main" noGrp="1"/>
          </p:cNvSpPr>
          <p:nvPr/>
        </p:nvSpPr>
        <p:spPr>
          <a:xfrm xmlns:a="http://schemas.openxmlformats.org/drawingml/2006/main">
            <a:off x="4238625" y="4200525"/>
            <a:ext cx="3810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B6EBE1"/>
                </a:solidFill>
                <a:latin typeface="Aptos"/>
                <a:ea typeface="Aptos"/>
                <a:cs typeface="Aptos"/>
              </a:defRPr>
            </a:pPr>
            <a:r>
              <a:rPr sz="1875" b="0">
                <a:solidFill>
                  <a:srgbClr val="B6EBE1"/>
                </a:solidFill>
                <a:latin typeface="Aptos"/>
                <a:ea typeface="Aptos"/>
                <a:cs typeface="Aptos"/>
              </a:rPr>
              <a:t>LACP active  •  trunk</a:t>
            </a:r>
          </a:p>
        </p:txBody>
      </p:sp>
      <p:sp>
        <p:nvSpPr>
          <p:cNvPr id="21" name="">
            <a:extLst xmlns:a="http://schemas.openxmlformats.org/drawingml/2006/main">
              <a:ext uri="{FF2B5EF4-FFF2-40B4-BE49-F238E27FC236}">
                <a16:creationId xmlns:a16="http://schemas.microsoft.com/office/drawing/2014/main" id="{7ADC1A03-DC76-4563-A81A-B8B597E421CE}"/>
              </a:ext>
            </a:extLst>
          </p:cNvPr>
          <p:cNvSpPr>
            <a:spLocks xmlns:a="http://schemas.openxmlformats.org/drawingml/2006/main" noGrp="1"/>
          </p:cNvSpPr>
          <p:nvPr/>
        </p:nvSpPr>
        <p:spPr>
          <a:xfrm xmlns:a="http://schemas.openxmlformats.org/drawingml/2006/main">
            <a:off x="1476375" y="5162550"/>
            <a:ext cx="9239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1">
                <a:solidFill>
                  <a:srgbClr val="F8FCFD"/>
                </a:solidFill>
                <a:latin typeface="Aptos"/>
                <a:ea typeface="Aptos"/>
                <a:cs typeface="Aptos"/>
              </a:defRPr>
            </a:pPr>
            <a:r>
              <a:rPr sz="2325" b="1">
                <a:solidFill>
                  <a:srgbClr val="F8FCFD"/>
                </a:solidFill>
                <a:latin typeface="Aptos"/>
                <a:ea typeface="Aptos"/>
                <a:cs typeface="Aptos"/>
              </a:rPr>
              <a:t>Two physical links act as one logical trunk</a:t>
            </a:r>
          </a:p>
        </p:txBody>
      </p:sp>
    </p:spTree>
    <p:extLst>
      <p:ext uri="{BB962C8B-B14F-4D97-AF65-F5344CB8AC3E}">
        <p14:creationId xmlns:p14="http://schemas.microsoft.com/office/powerpoint/2010/main" val="1755804280"/>
      </p:ext>
    </p:extLst>
  </p:cSld>
  <p:transition spd="med" advClick="1">
    <p:push dir="l"/>
  </p:transition>
</p:sld>
</file>

<file path=ppt/slides/slide9.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45B1E6D-149D-470E-A166-30DABAB0ECEA}"/>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Centralized network services</a:t>
            </a:r>
          </a:p>
        </p:txBody>
      </p:sp>
      <p:sp>
        <p:nvSpPr>
          <p:cNvPr id="2" name="">
            <a:extLst xmlns:a="http://schemas.openxmlformats.org/drawingml/2006/main">
              <a:ext uri="{FF2B5EF4-FFF2-40B4-BE49-F238E27FC236}">
                <a16:creationId xmlns:a16="http://schemas.microsoft.com/office/drawing/2014/main" id="{9C9E3085-4512-4410-945C-81DEDDEF9C92}"/>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D6CC68-4D01-4EE9-80D9-D5F498DADFEC}"/>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DBE7DBD2-78BF-4B86-B037-0CE1FD17F9A8}"/>
              </a:ext>
            </a:extLst>
          </p:cNvPr>
          <p:cNvSpPr>
            <a:spLocks xmlns:a="http://schemas.openxmlformats.org/drawingml/2006/main" noGrp="1"/>
          </p:cNvSpPr>
          <p:nvPr/>
        </p:nvSpPr>
        <p:spPr>
          <a:xfrm xmlns:a="http://schemas.openxmlformats.org/drawingml/2006/main">
            <a:off x="1066800" y="2238375"/>
            <a:ext cx="2381250" cy="2238375"/>
          </a:xfrm>
          <a:prstGeom xmlns:a="http://schemas.openxmlformats.org/drawingml/2006/main" prst="roundRect">
            <a:avLst>
              <a:gd name="adj" fmla="val 6809"/>
            </a:avLst>
          </a:prstGeom>
          <a:solidFill xmlns:a="http://schemas.openxmlformats.org/drawingml/2006/main">
            <a:srgbClr val="F8FCFD"/>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866D2DF3-C667-4A5B-ACC0-DEBBF3ABA76C}"/>
              </a:ext>
            </a:extLst>
          </p:cNvPr>
          <p:cNvSpPr>
            <a:spLocks xmlns:a="http://schemas.openxmlformats.org/drawingml/2006/main" noGrp="1"/>
          </p:cNvSpPr>
          <p:nvPr/>
        </p:nvSpPr>
        <p:spPr>
          <a:xfrm xmlns:a="http://schemas.openxmlformats.org/drawingml/2006/main">
            <a:off x="1733550" y="2543175"/>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2089C4"/>
            </a:solidFill>
            <a:prstDash val="solid"/>
          </a:ln>
        </p:spPr>
      </p:sp>
      <p:sp>
        <p:nvSpPr>
          <p:cNvPr id="6" name="">
            <a:extLst xmlns:a="http://schemas.openxmlformats.org/drawingml/2006/main">
              <a:ext uri="{FF2B5EF4-FFF2-40B4-BE49-F238E27FC236}">
                <a16:creationId xmlns:a16="http://schemas.microsoft.com/office/drawing/2014/main" id="{D7D5E602-0B57-4AEA-8C41-E9A55D755378}"/>
              </a:ext>
            </a:extLst>
          </p:cNvPr>
          <p:cNvSpPr>
            <a:spLocks xmlns:a="http://schemas.openxmlformats.org/drawingml/2006/main" noGrp="1"/>
          </p:cNvSpPr>
          <p:nvPr/>
        </p:nvSpPr>
        <p:spPr>
          <a:xfrm xmlns:a="http://schemas.openxmlformats.org/drawingml/2006/main">
            <a:off x="1857375" y="2619375"/>
            <a:ext cx="76200" cy="762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9C36F12-28A3-483E-8033-7C0FBFF654E8}"/>
              </a:ext>
            </a:extLst>
          </p:cNvPr>
          <p:cNvSpPr>
            <a:spLocks xmlns:a="http://schemas.openxmlformats.org/drawingml/2006/main" noGrp="1"/>
          </p:cNvSpPr>
          <p:nvPr/>
        </p:nvSpPr>
        <p:spPr>
          <a:xfrm xmlns:a="http://schemas.openxmlformats.org/drawingml/2006/main">
            <a:off x="1733550" y="2838450"/>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2089C4"/>
            </a:solidFill>
            <a:prstDash val="solid"/>
          </a:ln>
        </p:spPr>
      </p:sp>
      <p:sp>
        <p:nvSpPr>
          <p:cNvPr id="8" name="">
            <a:extLst xmlns:a="http://schemas.openxmlformats.org/drawingml/2006/main">
              <a:ext uri="{FF2B5EF4-FFF2-40B4-BE49-F238E27FC236}">
                <a16:creationId xmlns:a16="http://schemas.microsoft.com/office/drawing/2014/main" id="{692EAC11-AB55-4955-9995-31B2F55010D1}"/>
              </a:ext>
            </a:extLst>
          </p:cNvPr>
          <p:cNvSpPr>
            <a:spLocks xmlns:a="http://schemas.openxmlformats.org/drawingml/2006/main" noGrp="1"/>
          </p:cNvSpPr>
          <p:nvPr/>
        </p:nvSpPr>
        <p:spPr>
          <a:xfrm xmlns:a="http://schemas.openxmlformats.org/drawingml/2006/main">
            <a:off x="1857375" y="2914650"/>
            <a:ext cx="76200" cy="762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149ED3-1FA1-4D4F-B411-094825769FB8}"/>
              </a:ext>
            </a:extLst>
          </p:cNvPr>
          <p:cNvSpPr>
            <a:spLocks xmlns:a="http://schemas.openxmlformats.org/drawingml/2006/main" noGrp="1"/>
          </p:cNvSpPr>
          <p:nvPr/>
        </p:nvSpPr>
        <p:spPr>
          <a:xfrm xmlns:a="http://schemas.openxmlformats.org/drawingml/2006/main">
            <a:off x="1733550" y="3133725"/>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2089C4"/>
            </a:solidFill>
            <a:prstDash val="solid"/>
          </a:ln>
        </p:spPr>
      </p:sp>
      <p:sp>
        <p:nvSpPr>
          <p:cNvPr id="10" name="">
            <a:extLst xmlns:a="http://schemas.openxmlformats.org/drawingml/2006/main">
              <a:ext uri="{FF2B5EF4-FFF2-40B4-BE49-F238E27FC236}">
                <a16:creationId xmlns:a16="http://schemas.microsoft.com/office/drawing/2014/main" id="{42A6A25E-BDF1-4A94-898E-A34C43AE3F6E}"/>
              </a:ext>
            </a:extLst>
          </p:cNvPr>
          <p:cNvSpPr>
            <a:spLocks xmlns:a="http://schemas.openxmlformats.org/drawingml/2006/main" noGrp="1"/>
          </p:cNvSpPr>
          <p:nvPr/>
        </p:nvSpPr>
        <p:spPr>
          <a:xfrm xmlns:a="http://schemas.openxmlformats.org/drawingml/2006/main">
            <a:off x="1857375" y="3209925"/>
            <a:ext cx="76200" cy="762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BD22C6-5B00-47D4-9B87-A299A929440E}"/>
              </a:ext>
            </a:extLst>
          </p:cNvPr>
          <p:cNvSpPr>
            <a:spLocks xmlns:a="http://schemas.openxmlformats.org/drawingml/2006/main" noGrp="1"/>
          </p:cNvSpPr>
          <p:nvPr/>
        </p:nvSpPr>
        <p:spPr>
          <a:xfrm xmlns:a="http://schemas.openxmlformats.org/drawingml/2006/main">
            <a:off x="1276350" y="3629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32A3A"/>
                </a:solidFill>
                <a:latin typeface="Aptos"/>
                <a:ea typeface="Aptos"/>
                <a:cs typeface="Aptos"/>
              </a:defRPr>
            </a:pPr>
            <a:r>
              <a:rPr sz="2250" b="1">
                <a:solidFill>
                  <a:srgbClr val="132A3A"/>
                </a:solidFill>
                <a:latin typeface="Aptos"/>
                <a:ea typeface="Aptos"/>
                <a:cs typeface="Aptos"/>
              </a:rPr>
              <a:t>DHCP</a:t>
            </a:r>
          </a:p>
        </p:txBody>
      </p:sp>
      <p:sp>
        <p:nvSpPr>
          <p:cNvPr id="12" name="">
            <a:extLst xmlns:a="http://schemas.openxmlformats.org/drawingml/2006/main">
              <a:ext uri="{FF2B5EF4-FFF2-40B4-BE49-F238E27FC236}">
                <a16:creationId xmlns:a16="http://schemas.microsoft.com/office/drawing/2014/main" id="{47E4955F-032B-4688-9E51-2B0A8BE9EC88}"/>
              </a:ext>
            </a:extLst>
          </p:cNvPr>
          <p:cNvSpPr>
            <a:spLocks xmlns:a="http://schemas.openxmlformats.org/drawingml/2006/main" noGrp="1"/>
          </p:cNvSpPr>
          <p:nvPr/>
        </p:nvSpPr>
        <p:spPr>
          <a:xfrm xmlns:a="http://schemas.openxmlformats.org/drawingml/2006/main">
            <a:off x="1257300" y="40671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5E7485"/>
                </a:solidFill>
                <a:latin typeface="Aptos"/>
                <a:ea typeface="Aptos"/>
                <a:cs typeface="Aptos"/>
              </a:defRPr>
            </a:pPr>
            <a:r>
              <a:rPr sz="1350" b="0">
                <a:solidFill>
                  <a:srgbClr val="5E7485"/>
                </a:solidFill>
                <a:latin typeface="Aptos"/>
                <a:ea typeface="Aptos"/>
                <a:cs typeface="Aptos"/>
              </a:rPr>
              <a:t>192.168.120.2</a:t>
            </a:r>
          </a:p>
        </p:txBody>
      </p:sp>
      <p:sp>
        <p:nvSpPr>
          <p:cNvPr id="13" name="">
            <a:extLst xmlns:a="http://schemas.openxmlformats.org/drawingml/2006/main">
              <a:ext uri="{FF2B5EF4-FFF2-40B4-BE49-F238E27FC236}">
                <a16:creationId xmlns:a16="http://schemas.microsoft.com/office/drawing/2014/main" id="{D1713C5A-D046-4370-9CF6-839D85669FFA}"/>
              </a:ext>
            </a:extLst>
          </p:cNvPr>
          <p:cNvSpPr>
            <a:spLocks xmlns:a="http://schemas.openxmlformats.org/drawingml/2006/main" noGrp="1"/>
          </p:cNvSpPr>
          <p:nvPr/>
        </p:nvSpPr>
        <p:spPr>
          <a:xfrm xmlns:a="http://schemas.openxmlformats.org/drawingml/2006/main">
            <a:off x="4905375" y="2238375"/>
            <a:ext cx="2381250" cy="2238375"/>
          </a:xfrm>
          <a:prstGeom xmlns:a="http://schemas.openxmlformats.org/drawingml/2006/main" prst="roundRect">
            <a:avLst>
              <a:gd name="adj" fmla="val 6809"/>
            </a:avLst>
          </a:prstGeom>
          <a:solidFill xmlns:a="http://schemas.openxmlformats.org/drawingml/2006/main">
            <a:srgbClr val="F8FCFD"/>
          </a:solidFill>
          <a:ln xmlns:a="http://schemas.openxmlformats.org/drawingml/2006/main" w="9525">
            <a:solidFill>
              <a:srgbClr val="48CBAA"/>
            </a:solidFill>
            <a:prstDash val="solid"/>
          </a:ln>
        </p:spPr>
      </p:sp>
      <p:sp>
        <p:nvSpPr>
          <p:cNvPr id="14" name="">
            <a:extLst xmlns:a="http://schemas.openxmlformats.org/drawingml/2006/main">
              <a:ext uri="{FF2B5EF4-FFF2-40B4-BE49-F238E27FC236}">
                <a16:creationId xmlns:a16="http://schemas.microsoft.com/office/drawing/2014/main" id="{80C248A9-986F-4D2F-8B42-A6A5C43A9156}"/>
              </a:ext>
            </a:extLst>
          </p:cNvPr>
          <p:cNvSpPr>
            <a:spLocks xmlns:a="http://schemas.openxmlformats.org/drawingml/2006/main" noGrp="1"/>
          </p:cNvSpPr>
          <p:nvPr/>
        </p:nvSpPr>
        <p:spPr>
          <a:xfrm xmlns:a="http://schemas.openxmlformats.org/drawingml/2006/main">
            <a:off x="5572125" y="2543175"/>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48CBAA"/>
            </a:solidFill>
            <a:prstDash val="solid"/>
          </a:ln>
        </p:spPr>
      </p:sp>
      <p:sp>
        <p:nvSpPr>
          <p:cNvPr id="15" name="">
            <a:extLst xmlns:a="http://schemas.openxmlformats.org/drawingml/2006/main">
              <a:ext uri="{FF2B5EF4-FFF2-40B4-BE49-F238E27FC236}">
                <a16:creationId xmlns:a16="http://schemas.microsoft.com/office/drawing/2014/main" id="{40D838F6-8442-4DB9-A05B-43F1FD7F8368}"/>
              </a:ext>
            </a:extLst>
          </p:cNvPr>
          <p:cNvSpPr>
            <a:spLocks xmlns:a="http://schemas.openxmlformats.org/drawingml/2006/main" noGrp="1"/>
          </p:cNvSpPr>
          <p:nvPr/>
        </p:nvSpPr>
        <p:spPr>
          <a:xfrm xmlns:a="http://schemas.openxmlformats.org/drawingml/2006/main">
            <a:off x="5695950" y="2619375"/>
            <a:ext cx="76200" cy="762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62DF58D-6FBA-428C-A27D-AA00D7C4F697}"/>
              </a:ext>
            </a:extLst>
          </p:cNvPr>
          <p:cNvSpPr>
            <a:spLocks xmlns:a="http://schemas.openxmlformats.org/drawingml/2006/main" noGrp="1"/>
          </p:cNvSpPr>
          <p:nvPr/>
        </p:nvSpPr>
        <p:spPr>
          <a:xfrm xmlns:a="http://schemas.openxmlformats.org/drawingml/2006/main">
            <a:off x="5572125" y="2838450"/>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48CBAA"/>
            </a:solidFill>
            <a:prstDash val="solid"/>
          </a:ln>
        </p:spPr>
      </p:sp>
      <p:sp>
        <p:nvSpPr>
          <p:cNvPr id="17" name="">
            <a:extLst xmlns:a="http://schemas.openxmlformats.org/drawingml/2006/main">
              <a:ext uri="{FF2B5EF4-FFF2-40B4-BE49-F238E27FC236}">
                <a16:creationId xmlns:a16="http://schemas.microsoft.com/office/drawing/2014/main" id="{CF3F2DBA-EF48-4D12-9C7F-CBA8EBD3C227}"/>
              </a:ext>
            </a:extLst>
          </p:cNvPr>
          <p:cNvSpPr>
            <a:spLocks xmlns:a="http://schemas.openxmlformats.org/drawingml/2006/main" noGrp="1"/>
          </p:cNvSpPr>
          <p:nvPr/>
        </p:nvSpPr>
        <p:spPr>
          <a:xfrm xmlns:a="http://schemas.openxmlformats.org/drawingml/2006/main">
            <a:off x="5695950" y="2914650"/>
            <a:ext cx="76200" cy="762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68905F2-3D02-4590-A87E-21D5EE5DCAFD}"/>
              </a:ext>
            </a:extLst>
          </p:cNvPr>
          <p:cNvSpPr>
            <a:spLocks xmlns:a="http://schemas.openxmlformats.org/drawingml/2006/main" noGrp="1"/>
          </p:cNvSpPr>
          <p:nvPr/>
        </p:nvSpPr>
        <p:spPr>
          <a:xfrm xmlns:a="http://schemas.openxmlformats.org/drawingml/2006/main">
            <a:off x="5572125" y="3133725"/>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48CBAA"/>
            </a:solidFill>
            <a:prstDash val="solid"/>
          </a:ln>
        </p:spPr>
      </p:sp>
      <p:sp>
        <p:nvSpPr>
          <p:cNvPr id="19" name="">
            <a:extLst xmlns:a="http://schemas.openxmlformats.org/drawingml/2006/main">
              <a:ext uri="{FF2B5EF4-FFF2-40B4-BE49-F238E27FC236}">
                <a16:creationId xmlns:a16="http://schemas.microsoft.com/office/drawing/2014/main" id="{3DD02F7C-59FA-4053-A1A6-FF7C778CBB0F}"/>
              </a:ext>
            </a:extLst>
          </p:cNvPr>
          <p:cNvSpPr>
            <a:spLocks xmlns:a="http://schemas.openxmlformats.org/drawingml/2006/main" noGrp="1"/>
          </p:cNvSpPr>
          <p:nvPr/>
        </p:nvSpPr>
        <p:spPr>
          <a:xfrm xmlns:a="http://schemas.openxmlformats.org/drawingml/2006/main">
            <a:off x="5695950" y="3209925"/>
            <a:ext cx="76200" cy="76200"/>
          </a:xfrm>
          <a:prstGeom xmlns:a="http://schemas.openxmlformats.org/drawingml/2006/main" prst="ellipse">
            <a:avLst/>
          </a:prstGeom>
          <a:solidFill xmlns:a="http://schemas.openxmlformats.org/drawingml/2006/main">
            <a:srgbClr val="48CBA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B32B228-4791-4EF2-ABA6-E8E9D2B34C3F}"/>
              </a:ext>
            </a:extLst>
          </p:cNvPr>
          <p:cNvSpPr>
            <a:spLocks xmlns:a="http://schemas.openxmlformats.org/drawingml/2006/main" noGrp="1"/>
          </p:cNvSpPr>
          <p:nvPr/>
        </p:nvSpPr>
        <p:spPr>
          <a:xfrm xmlns:a="http://schemas.openxmlformats.org/drawingml/2006/main">
            <a:off x="5114925" y="3629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32A3A"/>
                </a:solidFill>
                <a:latin typeface="Aptos"/>
                <a:ea typeface="Aptos"/>
                <a:cs typeface="Aptos"/>
              </a:defRPr>
            </a:pPr>
            <a:r>
              <a:rPr sz="2250" b="1">
                <a:solidFill>
                  <a:srgbClr val="132A3A"/>
                </a:solidFill>
                <a:latin typeface="Aptos"/>
                <a:ea typeface="Aptos"/>
                <a:cs typeface="Aptos"/>
              </a:rPr>
              <a:t>DNS</a:t>
            </a:r>
          </a:p>
        </p:txBody>
      </p:sp>
      <p:sp>
        <p:nvSpPr>
          <p:cNvPr id="21" name="">
            <a:extLst xmlns:a="http://schemas.openxmlformats.org/drawingml/2006/main">
              <a:ext uri="{FF2B5EF4-FFF2-40B4-BE49-F238E27FC236}">
                <a16:creationId xmlns:a16="http://schemas.microsoft.com/office/drawing/2014/main" id="{61A1285A-F8B3-49DA-B7D1-35D1A7F7AEDD}"/>
              </a:ext>
            </a:extLst>
          </p:cNvPr>
          <p:cNvSpPr>
            <a:spLocks xmlns:a="http://schemas.openxmlformats.org/drawingml/2006/main" noGrp="1"/>
          </p:cNvSpPr>
          <p:nvPr/>
        </p:nvSpPr>
        <p:spPr>
          <a:xfrm xmlns:a="http://schemas.openxmlformats.org/drawingml/2006/main">
            <a:off x="5095875" y="40671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5E7485"/>
                </a:solidFill>
                <a:latin typeface="Aptos"/>
                <a:ea typeface="Aptos"/>
                <a:cs typeface="Aptos"/>
              </a:defRPr>
            </a:pPr>
            <a:r>
              <a:rPr sz="1350" b="0">
                <a:solidFill>
                  <a:srgbClr val="5E7485"/>
                </a:solidFill>
                <a:latin typeface="Aptos"/>
                <a:ea typeface="Aptos"/>
                <a:cs typeface="Aptos"/>
              </a:rPr>
              <a:t>192.168.120.3</a:t>
            </a:r>
          </a:p>
        </p:txBody>
      </p:sp>
      <p:sp>
        <p:nvSpPr>
          <p:cNvPr id="22" name="">
            <a:extLst xmlns:a="http://schemas.openxmlformats.org/drawingml/2006/main">
              <a:ext uri="{FF2B5EF4-FFF2-40B4-BE49-F238E27FC236}">
                <a16:creationId xmlns:a16="http://schemas.microsoft.com/office/drawing/2014/main" id="{14CC79EF-B818-467C-9E82-942F8B2BA82A}"/>
              </a:ext>
            </a:extLst>
          </p:cNvPr>
          <p:cNvSpPr>
            <a:spLocks xmlns:a="http://schemas.openxmlformats.org/drawingml/2006/main" noGrp="1"/>
          </p:cNvSpPr>
          <p:nvPr/>
        </p:nvSpPr>
        <p:spPr>
          <a:xfrm xmlns:a="http://schemas.openxmlformats.org/drawingml/2006/main">
            <a:off x="8743950" y="2238375"/>
            <a:ext cx="2381250" cy="2238375"/>
          </a:xfrm>
          <a:prstGeom xmlns:a="http://schemas.openxmlformats.org/drawingml/2006/main" prst="roundRect">
            <a:avLst>
              <a:gd name="adj" fmla="val 6809"/>
            </a:avLst>
          </a:prstGeom>
          <a:solidFill xmlns:a="http://schemas.openxmlformats.org/drawingml/2006/main">
            <a:srgbClr val="F8FCFD"/>
          </a:solidFill>
          <a:ln xmlns:a="http://schemas.openxmlformats.org/drawingml/2006/main" w="9525">
            <a:solidFill>
              <a:srgbClr val="F3B96A"/>
            </a:solidFill>
            <a:prstDash val="solid"/>
          </a:ln>
        </p:spPr>
      </p:sp>
      <p:sp>
        <p:nvSpPr>
          <p:cNvPr id="23" name="">
            <a:extLst xmlns:a="http://schemas.openxmlformats.org/drawingml/2006/main">
              <a:ext uri="{FF2B5EF4-FFF2-40B4-BE49-F238E27FC236}">
                <a16:creationId xmlns:a16="http://schemas.microsoft.com/office/drawing/2014/main" id="{3054AA42-C33F-4AA1-8116-669F721CEA25}"/>
              </a:ext>
            </a:extLst>
          </p:cNvPr>
          <p:cNvSpPr>
            <a:spLocks xmlns:a="http://schemas.openxmlformats.org/drawingml/2006/main" noGrp="1"/>
          </p:cNvSpPr>
          <p:nvPr/>
        </p:nvSpPr>
        <p:spPr>
          <a:xfrm xmlns:a="http://schemas.openxmlformats.org/drawingml/2006/main">
            <a:off x="9410700" y="2543175"/>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F3B96A"/>
            </a:solidFill>
            <a:prstDash val="solid"/>
          </a:ln>
        </p:spPr>
      </p:sp>
      <p:sp>
        <p:nvSpPr>
          <p:cNvPr id="24" name="">
            <a:extLst xmlns:a="http://schemas.openxmlformats.org/drawingml/2006/main">
              <a:ext uri="{FF2B5EF4-FFF2-40B4-BE49-F238E27FC236}">
                <a16:creationId xmlns:a16="http://schemas.microsoft.com/office/drawing/2014/main" id="{33C5F289-C339-484A-AFB5-F4E7E4642366}"/>
              </a:ext>
            </a:extLst>
          </p:cNvPr>
          <p:cNvSpPr>
            <a:spLocks xmlns:a="http://schemas.openxmlformats.org/drawingml/2006/main" noGrp="1"/>
          </p:cNvSpPr>
          <p:nvPr/>
        </p:nvSpPr>
        <p:spPr>
          <a:xfrm xmlns:a="http://schemas.openxmlformats.org/drawingml/2006/main">
            <a:off x="9534525" y="2619375"/>
            <a:ext cx="76200" cy="76200"/>
          </a:xfrm>
          <a:prstGeom xmlns:a="http://schemas.openxmlformats.org/drawingml/2006/main" prst="ellipse">
            <a:avLst/>
          </a:prstGeom>
          <a:solidFill xmlns:a="http://schemas.openxmlformats.org/drawingml/2006/main">
            <a:srgbClr val="F3B96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756EB6D-72C0-4290-AA76-CD6FE2DCD944}"/>
              </a:ext>
            </a:extLst>
          </p:cNvPr>
          <p:cNvSpPr>
            <a:spLocks xmlns:a="http://schemas.openxmlformats.org/drawingml/2006/main" noGrp="1"/>
          </p:cNvSpPr>
          <p:nvPr/>
        </p:nvSpPr>
        <p:spPr>
          <a:xfrm xmlns:a="http://schemas.openxmlformats.org/drawingml/2006/main">
            <a:off x="9410700" y="2838450"/>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F3B96A"/>
            </a:solidFill>
            <a:prstDash val="solid"/>
          </a:ln>
        </p:spPr>
      </p:sp>
      <p:sp>
        <p:nvSpPr>
          <p:cNvPr id="26" name="">
            <a:extLst xmlns:a="http://schemas.openxmlformats.org/drawingml/2006/main">
              <a:ext uri="{FF2B5EF4-FFF2-40B4-BE49-F238E27FC236}">
                <a16:creationId xmlns:a16="http://schemas.microsoft.com/office/drawing/2014/main" id="{58A84A9B-5557-4F71-9CFE-422E7A13C0C0}"/>
              </a:ext>
            </a:extLst>
          </p:cNvPr>
          <p:cNvSpPr>
            <a:spLocks xmlns:a="http://schemas.openxmlformats.org/drawingml/2006/main" noGrp="1"/>
          </p:cNvSpPr>
          <p:nvPr/>
        </p:nvSpPr>
        <p:spPr>
          <a:xfrm xmlns:a="http://schemas.openxmlformats.org/drawingml/2006/main">
            <a:off x="9534525" y="2914650"/>
            <a:ext cx="76200" cy="76200"/>
          </a:xfrm>
          <a:prstGeom xmlns:a="http://schemas.openxmlformats.org/drawingml/2006/main" prst="ellipse">
            <a:avLst/>
          </a:prstGeom>
          <a:solidFill xmlns:a="http://schemas.openxmlformats.org/drawingml/2006/main">
            <a:srgbClr val="F3B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2D79D0F-786F-48A0-86BE-6E46318A6AD4}"/>
              </a:ext>
            </a:extLst>
          </p:cNvPr>
          <p:cNvSpPr>
            <a:spLocks xmlns:a="http://schemas.openxmlformats.org/drawingml/2006/main" noGrp="1"/>
          </p:cNvSpPr>
          <p:nvPr/>
        </p:nvSpPr>
        <p:spPr>
          <a:xfrm xmlns:a="http://schemas.openxmlformats.org/drawingml/2006/main">
            <a:off x="9410700" y="3133725"/>
            <a:ext cx="1047750" cy="228600"/>
          </a:xfrm>
          <a:prstGeom xmlns:a="http://schemas.openxmlformats.org/drawingml/2006/main" prst="roundRect">
            <a:avLst>
              <a:gd name="adj" fmla="val 20833"/>
            </a:avLst>
          </a:prstGeom>
          <a:solidFill xmlns:a="http://schemas.openxmlformats.org/drawingml/2006/main">
            <a:srgbClr val="F7FBFC"/>
          </a:solidFill>
          <a:ln xmlns:a="http://schemas.openxmlformats.org/drawingml/2006/main" w="9525">
            <a:solidFill>
              <a:srgbClr val="F3B96A"/>
            </a:solidFill>
            <a:prstDash val="solid"/>
          </a:ln>
        </p:spPr>
      </p:sp>
      <p:sp>
        <p:nvSpPr>
          <p:cNvPr id="28" name="">
            <a:extLst xmlns:a="http://schemas.openxmlformats.org/drawingml/2006/main">
              <a:ext uri="{FF2B5EF4-FFF2-40B4-BE49-F238E27FC236}">
                <a16:creationId xmlns:a16="http://schemas.microsoft.com/office/drawing/2014/main" id="{9C445F95-52C9-4DD9-B4AF-711731E142C3}"/>
              </a:ext>
            </a:extLst>
          </p:cNvPr>
          <p:cNvSpPr>
            <a:spLocks xmlns:a="http://schemas.openxmlformats.org/drawingml/2006/main" noGrp="1"/>
          </p:cNvSpPr>
          <p:nvPr/>
        </p:nvSpPr>
        <p:spPr>
          <a:xfrm xmlns:a="http://schemas.openxmlformats.org/drawingml/2006/main">
            <a:off x="9534525" y="3209925"/>
            <a:ext cx="76200" cy="76200"/>
          </a:xfrm>
          <a:prstGeom xmlns:a="http://schemas.openxmlformats.org/drawingml/2006/main" prst="ellipse">
            <a:avLst/>
          </a:prstGeom>
          <a:solidFill xmlns:a="http://schemas.openxmlformats.org/drawingml/2006/main">
            <a:srgbClr val="F3B96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B7CCA1E-D47F-41DE-B54C-2339EA4B7941}"/>
              </a:ext>
            </a:extLst>
          </p:cNvPr>
          <p:cNvSpPr>
            <a:spLocks xmlns:a="http://schemas.openxmlformats.org/drawingml/2006/main" noGrp="1"/>
          </p:cNvSpPr>
          <p:nvPr/>
        </p:nvSpPr>
        <p:spPr>
          <a:xfrm xmlns:a="http://schemas.openxmlformats.org/drawingml/2006/main">
            <a:off x="8953500" y="3629025"/>
            <a:ext cx="1962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1">
                <a:solidFill>
                  <a:srgbClr val="132A3A"/>
                </a:solidFill>
                <a:latin typeface="Aptos"/>
                <a:ea typeface="Aptos"/>
                <a:cs typeface="Aptos"/>
              </a:defRPr>
            </a:pPr>
            <a:r>
              <a:rPr sz="2250" b="1">
                <a:solidFill>
                  <a:srgbClr val="132A3A"/>
                </a:solidFill>
                <a:latin typeface="Aptos"/>
                <a:ea typeface="Aptos"/>
                <a:cs typeface="Aptos"/>
              </a:rPr>
              <a:t>HTTP</a:t>
            </a:r>
          </a:p>
        </p:txBody>
      </p:sp>
      <p:sp>
        <p:nvSpPr>
          <p:cNvPr id="30" name="">
            <a:extLst xmlns:a="http://schemas.openxmlformats.org/drawingml/2006/main">
              <a:ext uri="{FF2B5EF4-FFF2-40B4-BE49-F238E27FC236}">
                <a16:creationId xmlns:a16="http://schemas.microsoft.com/office/drawing/2014/main" id="{92716CD9-A7A8-46E0-BFD8-4B37A638A301}"/>
              </a:ext>
            </a:extLst>
          </p:cNvPr>
          <p:cNvSpPr>
            <a:spLocks xmlns:a="http://schemas.openxmlformats.org/drawingml/2006/main" noGrp="1"/>
          </p:cNvSpPr>
          <p:nvPr/>
        </p:nvSpPr>
        <p:spPr>
          <a:xfrm xmlns:a="http://schemas.openxmlformats.org/drawingml/2006/main">
            <a:off x="8934450" y="40671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5E7485"/>
                </a:solidFill>
                <a:latin typeface="Aptos"/>
                <a:ea typeface="Aptos"/>
                <a:cs typeface="Aptos"/>
              </a:defRPr>
            </a:pPr>
            <a:r>
              <a:rPr sz="1350" b="0">
                <a:solidFill>
                  <a:srgbClr val="5E7485"/>
                </a:solidFill>
                <a:latin typeface="Aptos"/>
                <a:ea typeface="Aptos"/>
                <a:cs typeface="Aptos"/>
              </a:rPr>
              <a:t>192.168.120.4</a:t>
            </a:r>
          </a:p>
        </p:txBody>
      </p:sp>
      <p:sp>
        <p:nvSpPr>
          <p:cNvPr id="31" name="">
            <a:extLst xmlns:a="http://schemas.openxmlformats.org/drawingml/2006/main">
              <a:ext uri="{FF2B5EF4-FFF2-40B4-BE49-F238E27FC236}">
                <a16:creationId xmlns:a16="http://schemas.microsoft.com/office/drawing/2014/main" id="{D5EE9DED-0833-42E1-91A4-7A9E0CFB485E}"/>
              </a:ext>
            </a:extLst>
          </p:cNvPr>
          <p:cNvSpPr>
            <a:spLocks xmlns:a="http://schemas.openxmlformats.org/drawingml/2006/main" noGrp="1"/>
          </p:cNvSpPr>
          <p:nvPr/>
        </p:nvSpPr>
        <p:spPr>
          <a:xfrm xmlns:a="http://schemas.openxmlformats.org/drawingml/2006/main">
            <a:off x="1476375" y="5314950"/>
            <a:ext cx="923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a:solidFill>
                  <a:srgbClr val="5E7485"/>
                </a:solidFill>
                <a:latin typeface="Aptos"/>
                <a:ea typeface="Aptos"/>
                <a:cs typeface="Aptos"/>
              </a:defRPr>
            </a:pPr>
            <a:r>
              <a:rPr sz="1950" b="0">
                <a:solidFill>
                  <a:srgbClr val="5E7485"/>
                </a:solidFill>
                <a:latin typeface="Aptos"/>
                <a:ea typeface="Aptos"/>
                <a:cs typeface="Aptos"/>
              </a:rPr>
              <a:t>Client requests reach DHCP through SVI relay</a:t>
            </a:r>
          </a:p>
        </p:txBody>
      </p:sp>
    </p:spTree>
    <p:extLst>
      <p:ext uri="{BB962C8B-B14F-4D97-AF65-F5344CB8AC3E}">
        <p14:creationId xmlns:p14="http://schemas.microsoft.com/office/powerpoint/2010/main" val="1576817825"/>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071A3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ac92df332d14b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BF6264-A0D8-44F9-AA40-05F025BF3E1F}"/>
              </a:ext>
            </a:extLst>
          </p:cNvPr>
          <p:cNvSpPr>
            <a:spLocks xmlns:a="http://schemas.openxmlformats.org/drawingml/2006/main" noGrp="1"/>
          </p:cNvSpPr>
          <p:nvPr/>
        </p:nvSpPr>
        <p:spPr>
          <a:xfrm xmlns:a="http://schemas.openxmlformats.org/drawingml/2006/main">
            <a:off x="0" y="0"/>
            <a:ext cx="5429250" cy="6858000"/>
          </a:xfrm>
          <a:prstGeom xmlns:a="http://schemas.openxmlformats.org/drawingml/2006/main" prst="rect">
            <a:avLst/>
          </a:prstGeom>
          <a:solidFill xmlns:a="http://schemas.openxmlformats.org/drawingml/2006/main">
            <a:srgbClr val="071A31"/>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354F15-4018-40B0-8614-B2007DF02244}"/>
              </a:ext>
            </a:extLst>
          </p:cNvPr>
          <p:cNvSpPr>
            <a:spLocks xmlns:a="http://schemas.openxmlformats.org/drawingml/2006/main" noGrp="1"/>
          </p:cNvSpPr>
          <p:nvPr/>
        </p:nvSpPr>
        <p:spPr>
          <a:xfrm xmlns:a="http://schemas.openxmlformats.org/drawingml/2006/main">
            <a:off x="685800" y="1095375"/>
            <a:ext cx="4286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5100" b="1">
                <a:solidFill>
                  <a:srgbClr val="F8FCFD"/>
                </a:solidFill>
                <a:latin typeface="Aptos"/>
                <a:ea typeface="Aptos"/>
                <a:cs typeface="Aptos"/>
              </a:defRPr>
            </a:pPr>
            <a:r>
              <a:rPr sz="5100" b="1">
                <a:solidFill>
                  <a:srgbClr val="F8FCFD"/>
                </a:solidFill>
                <a:latin typeface="Aptos"/>
                <a:ea typeface="Aptos"/>
                <a:cs typeface="Aptos"/>
              </a:rPr>
              <a:t>Wireless</a:t>
            </a:r>
          </a:p>
          <a:p xmlns:a="http://schemas.openxmlformats.org/drawingml/2006/main">
            <a:pPr algn="l">
              <a:defRPr sz="5100" b="1">
                <a:solidFill>
                  <a:srgbClr val="F8FCFD"/>
                </a:solidFill>
                <a:latin typeface="Aptos"/>
                <a:ea typeface="Aptos"/>
                <a:cs typeface="Aptos"/>
              </a:defRPr>
            </a:pPr>
            <a:r>
              <a:rPr sz="5100" b="1">
                <a:solidFill>
                  <a:srgbClr val="F8FCFD"/>
                </a:solidFill>
                <a:latin typeface="Aptos"/>
                <a:ea typeface="Aptos"/>
                <a:cs typeface="Aptos"/>
              </a:rPr>
              <a:t>clients</a:t>
            </a:r>
          </a:p>
        </p:txBody>
      </p:sp>
      <p:sp>
        <p:nvSpPr>
          <p:cNvPr id="4" name="">
            <a:extLst xmlns:a="http://schemas.openxmlformats.org/drawingml/2006/main">
              <a:ext uri="{FF2B5EF4-FFF2-40B4-BE49-F238E27FC236}">
                <a16:creationId xmlns:a16="http://schemas.microsoft.com/office/drawing/2014/main" id="{F3F1B473-B98D-4E25-A52A-940A03CCD61C}"/>
              </a:ext>
            </a:extLst>
          </p:cNvPr>
          <p:cNvSpPr>
            <a:spLocks xmlns:a="http://schemas.openxmlformats.org/drawingml/2006/main" noGrp="1"/>
          </p:cNvSpPr>
          <p:nvPr/>
        </p:nvSpPr>
        <p:spPr>
          <a:xfrm xmlns:a="http://schemas.openxmlformats.org/drawingml/2006/main">
            <a:off x="704850" y="2962275"/>
            <a:ext cx="828675"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356A906-CAD6-41EE-BF7B-41C1C875D496}"/>
              </a:ext>
            </a:extLst>
          </p:cNvPr>
          <p:cNvSpPr>
            <a:spLocks xmlns:a="http://schemas.openxmlformats.org/drawingml/2006/main" noGrp="1"/>
          </p:cNvSpPr>
          <p:nvPr/>
        </p:nvSpPr>
        <p:spPr>
          <a:xfrm xmlns:a="http://schemas.openxmlformats.org/drawingml/2006/main">
            <a:off x="704850" y="3505200"/>
            <a:ext cx="4095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F8FCFD"/>
                </a:solidFill>
                <a:latin typeface="Aptos"/>
                <a:ea typeface="Aptos"/>
                <a:cs typeface="Aptos"/>
              </a:defRPr>
            </a:pPr>
            <a:r>
              <a:rPr sz="2475" b="1">
                <a:solidFill>
                  <a:srgbClr val="F8FCFD"/>
                </a:solidFill>
                <a:latin typeface="Aptos"/>
                <a:ea typeface="Aptos"/>
                <a:cs typeface="Aptos"/>
              </a:rPr>
              <a:t>4 access points</a:t>
            </a:r>
          </a:p>
        </p:txBody>
      </p:sp>
      <p:sp>
        <p:nvSpPr>
          <p:cNvPr id="6" name="">
            <a:extLst xmlns:a="http://schemas.openxmlformats.org/drawingml/2006/main">
              <a:ext uri="{FF2B5EF4-FFF2-40B4-BE49-F238E27FC236}">
                <a16:creationId xmlns:a16="http://schemas.microsoft.com/office/drawing/2014/main" id="{820E9127-8B3C-48C4-B270-6EF190292DC1}"/>
              </a:ext>
            </a:extLst>
          </p:cNvPr>
          <p:cNvSpPr>
            <a:spLocks xmlns:a="http://schemas.openxmlformats.org/drawingml/2006/main" noGrp="1"/>
          </p:cNvSpPr>
          <p:nvPr/>
        </p:nvSpPr>
        <p:spPr>
          <a:xfrm xmlns:a="http://schemas.openxmlformats.org/drawingml/2006/main">
            <a:off x="704850" y="4162425"/>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BDEEF3"/>
                </a:solidFill>
                <a:latin typeface="Aptos"/>
                <a:ea typeface="Aptos"/>
                <a:cs typeface="Aptos"/>
              </a:defRPr>
            </a:pPr>
            <a:r>
              <a:rPr sz="2100" b="0">
                <a:solidFill>
                  <a:srgbClr val="BDEEF3"/>
                </a:solidFill>
                <a:latin typeface="Aptos"/>
                <a:ea typeface="Aptos"/>
                <a:cs typeface="Aptos"/>
              </a:rPr>
              <a:t>Laptops + phones</a:t>
            </a:r>
          </a:p>
        </p:txBody>
      </p:sp>
      <p:sp>
        <p:nvSpPr>
          <p:cNvPr id="7" name="">
            <a:extLst xmlns:a="http://schemas.openxmlformats.org/drawingml/2006/main">
              <a:ext uri="{FF2B5EF4-FFF2-40B4-BE49-F238E27FC236}">
                <a16:creationId xmlns:a16="http://schemas.microsoft.com/office/drawing/2014/main" id="{C624C752-A20E-4B8E-BBC7-07F5A33F7790}"/>
              </a:ext>
            </a:extLst>
          </p:cNvPr>
          <p:cNvSpPr>
            <a:spLocks xmlns:a="http://schemas.openxmlformats.org/drawingml/2006/main" noGrp="1"/>
          </p:cNvSpPr>
          <p:nvPr/>
        </p:nvSpPr>
        <p:spPr>
          <a:xfrm xmlns:a="http://schemas.openxmlformats.org/drawingml/2006/main">
            <a:off x="704850" y="55435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00" b="0">
                <a:solidFill>
                  <a:srgbClr val="F8FCFD"/>
                </a:solidFill>
                <a:latin typeface="Aptos"/>
                <a:ea typeface="Aptos"/>
                <a:cs typeface="Aptos"/>
              </a:defRPr>
            </a:pPr>
            <a:r>
              <a:rPr sz="1800" b="0">
                <a:solidFill>
                  <a:srgbClr val="F8FCFD"/>
                </a:solidFill>
                <a:latin typeface="Aptos"/>
                <a:ea typeface="Aptos"/>
                <a:cs typeface="Aptos"/>
              </a:rPr>
              <a:t>SSID: Default  •  VLAN 1</a:t>
            </a:r>
          </a:p>
        </p:txBody>
      </p:sp>
    </p:spTree>
    <p:extLst>
      <p:ext uri="{BB962C8B-B14F-4D97-AF65-F5344CB8AC3E}">
        <p14:creationId xmlns:p14="http://schemas.microsoft.com/office/powerpoint/2010/main" val="1475745220"/>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0A2E8DE-2FE8-45DA-9AAA-9E6A112B905D}"/>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PAT at the simulated edge</a:t>
            </a:r>
          </a:p>
        </p:txBody>
      </p:sp>
      <p:sp>
        <p:nvSpPr>
          <p:cNvPr id="2" name="">
            <a:extLst xmlns:a="http://schemas.openxmlformats.org/drawingml/2006/main">
              <a:ext uri="{FF2B5EF4-FFF2-40B4-BE49-F238E27FC236}">
                <a16:creationId xmlns:a16="http://schemas.microsoft.com/office/drawing/2014/main" id="{9ECC54D0-E5F8-4B89-8170-DD3D549867C4}"/>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5645DD-71B6-4155-8F3D-B78E9A2B7A66}"/>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11A05AF3-0DA4-4050-8002-6A298E898F20}"/>
              </a:ext>
            </a:extLst>
          </p:cNvPr>
          <p:cNvSpPr>
            <a:spLocks xmlns:a="http://schemas.openxmlformats.org/drawingml/2006/main" noGrp="1"/>
          </p:cNvSpPr>
          <p:nvPr/>
        </p:nvSpPr>
        <p:spPr>
          <a:xfrm xmlns:a="http://schemas.openxmlformats.org/drawingml/2006/main">
            <a:off x="914400" y="1809750"/>
            <a:ext cx="2571750" cy="819150"/>
          </a:xfrm>
          <a:prstGeom xmlns:a="http://schemas.openxmlformats.org/drawingml/2006/main" prst="roundRect">
            <a:avLst>
              <a:gd name="adj" fmla="val 16279"/>
            </a:avLst>
          </a:prstGeom>
          <a:solidFill xmlns:a="http://schemas.openxmlformats.org/drawingml/2006/main">
            <a:srgbClr val="F8FCFD"/>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3D9165B7-56D9-4795-9BF3-74FA2CF55F4E}"/>
              </a:ext>
            </a:extLst>
          </p:cNvPr>
          <p:cNvSpPr>
            <a:spLocks xmlns:a="http://schemas.openxmlformats.org/drawingml/2006/main" noGrp="1"/>
          </p:cNvSpPr>
          <p:nvPr/>
        </p:nvSpPr>
        <p:spPr>
          <a:xfrm xmlns:a="http://schemas.openxmlformats.org/drawingml/2006/main">
            <a:off x="1028700" y="1885950"/>
            <a:ext cx="2343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32A3A"/>
                </a:solidFill>
                <a:latin typeface="Aptos"/>
                <a:ea typeface="Aptos"/>
                <a:cs typeface="Aptos"/>
              </a:defRPr>
            </a:pPr>
            <a:r>
              <a:rPr sz="1725" b="1">
                <a:solidFill>
                  <a:srgbClr val="132A3A"/>
                </a:solidFill>
                <a:latin typeface="Aptos"/>
                <a:ea typeface="Aptos"/>
                <a:cs typeface="Aptos"/>
              </a:rPr>
              <a:t>Private client 1</a:t>
            </a:r>
          </a:p>
        </p:txBody>
      </p:sp>
      <p:sp>
        <p:nvSpPr>
          <p:cNvPr id="6" name="">
            <a:extLst xmlns:a="http://schemas.openxmlformats.org/drawingml/2006/main">
              <a:ext uri="{FF2B5EF4-FFF2-40B4-BE49-F238E27FC236}">
                <a16:creationId xmlns:a16="http://schemas.microsoft.com/office/drawing/2014/main" id="{5F3C96E9-3EC7-4228-8EC1-8E42AC8E5AB9}"/>
              </a:ext>
            </a:extLst>
          </p:cNvPr>
          <p:cNvSpPr>
            <a:spLocks xmlns:a="http://schemas.openxmlformats.org/drawingml/2006/main" noGrp="1"/>
          </p:cNvSpPr>
          <p:nvPr/>
        </p:nvSpPr>
        <p:spPr>
          <a:xfrm xmlns:a="http://schemas.openxmlformats.org/drawingml/2006/main">
            <a:off x="914400" y="2990850"/>
            <a:ext cx="2571750" cy="819150"/>
          </a:xfrm>
          <a:prstGeom xmlns:a="http://schemas.openxmlformats.org/drawingml/2006/main" prst="roundRect">
            <a:avLst>
              <a:gd name="adj" fmla="val 16279"/>
            </a:avLst>
          </a:prstGeom>
          <a:solidFill xmlns:a="http://schemas.openxmlformats.org/drawingml/2006/main">
            <a:srgbClr val="F8FCFD"/>
          </a:solidFill>
          <a:ln xmlns:a="http://schemas.openxmlformats.org/drawingml/2006/main" w="9525">
            <a:solidFill>
              <a:srgbClr val="48CBAA"/>
            </a:solidFill>
            <a:prstDash val="solid"/>
          </a:ln>
        </p:spPr>
      </p:sp>
      <p:sp>
        <p:nvSpPr>
          <p:cNvPr id="7" name="">
            <a:extLst xmlns:a="http://schemas.openxmlformats.org/drawingml/2006/main">
              <a:ext uri="{FF2B5EF4-FFF2-40B4-BE49-F238E27FC236}">
                <a16:creationId xmlns:a16="http://schemas.microsoft.com/office/drawing/2014/main" id="{D9C2ADDB-6D4B-41E4-992C-0374AADC5B05}"/>
              </a:ext>
            </a:extLst>
          </p:cNvPr>
          <p:cNvSpPr>
            <a:spLocks xmlns:a="http://schemas.openxmlformats.org/drawingml/2006/main" noGrp="1"/>
          </p:cNvSpPr>
          <p:nvPr/>
        </p:nvSpPr>
        <p:spPr>
          <a:xfrm xmlns:a="http://schemas.openxmlformats.org/drawingml/2006/main">
            <a:off x="1028700" y="3067050"/>
            <a:ext cx="2343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32A3A"/>
                </a:solidFill>
                <a:latin typeface="Aptos"/>
                <a:ea typeface="Aptos"/>
                <a:cs typeface="Aptos"/>
              </a:defRPr>
            </a:pPr>
            <a:r>
              <a:rPr sz="1725" b="1">
                <a:solidFill>
                  <a:srgbClr val="132A3A"/>
                </a:solidFill>
                <a:latin typeface="Aptos"/>
                <a:ea typeface="Aptos"/>
                <a:cs typeface="Aptos"/>
              </a:rPr>
              <a:t>Private client 2</a:t>
            </a:r>
          </a:p>
        </p:txBody>
      </p:sp>
      <p:sp>
        <p:nvSpPr>
          <p:cNvPr id="8" name="">
            <a:extLst xmlns:a="http://schemas.openxmlformats.org/drawingml/2006/main">
              <a:ext uri="{FF2B5EF4-FFF2-40B4-BE49-F238E27FC236}">
                <a16:creationId xmlns:a16="http://schemas.microsoft.com/office/drawing/2014/main" id="{4FEF0FF4-A08E-458D-A97A-E56BBE808CB3}"/>
              </a:ext>
            </a:extLst>
          </p:cNvPr>
          <p:cNvSpPr>
            <a:spLocks xmlns:a="http://schemas.openxmlformats.org/drawingml/2006/main" noGrp="1"/>
          </p:cNvSpPr>
          <p:nvPr/>
        </p:nvSpPr>
        <p:spPr>
          <a:xfrm xmlns:a="http://schemas.openxmlformats.org/drawingml/2006/main">
            <a:off x="914400" y="4171950"/>
            <a:ext cx="2571750" cy="819150"/>
          </a:xfrm>
          <a:prstGeom xmlns:a="http://schemas.openxmlformats.org/drawingml/2006/main" prst="roundRect">
            <a:avLst>
              <a:gd name="adj" fmla="val 16279"/>
            </a:avLst>
          </a:prstGeom>
          <a:solidFill xmlns:a="http://schemas.openxmlformats.org/drawingml/2006/main">
            <a:srgbClr val="F8FCFD"/>
          </a:solidFill>
          <a:ln xmlns:a="http://schemas.openxmlformats.org/drawingml/2006/main" w="9525">
            <a:solidFill>
              <a:srgbClr val="B39AE4"/>
            </a:solidFill>
            <a:prstDash val="solid"/>
          </a:ln>
        </p:spPr>
      </p:sp>
      <p:sp>
        <p:nvSpPr>
          <p:cNvPr id="9" name="">
            <a:extLst xmlns:a="http://schemas.openxmlformats.org/drawingml/2006/main">
              <a:ext uri="{FF2B5EF4-FFF2-40B4-BE49-F238E27FC236}">
                <a16:creationId xmlns:a16="http://schemas.microsoft.com/office/drawing/2014/main" id="{DD29E781-1058-4F40-AFE8-0E5AEDE459D1}"/>
              </a:ext>
            </a:extLst>
          </p:cNvPr>
          <p:cNvSpPr>
            <a:spLocks xmlns:a="http://schemas.openxmlformats.org/drawingml/2006/main" noGrp="1"/>
          </p:cNvSpPr>
          <p:nvPr/>
        </p:nvSpPr>
        <p:spPr>
          <a:xfrm xmlns:a="http://schemas.openxmlformats.org/drawingml/2006/main">
            <a:off x="1028700" y="4248150"/>
            <a:ext cx="2343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32A3A"/>
                </a:solidFill>
                <a:latin typeface="Aptos"/>
                <a:ea typeface="Aptos"/>
                <a:cs typeface="Aptos"/>
              </a:defRPr>
            </a:pPr>
            <a:r>
              <a:rPr sz="1725" b="1">
                <a:solidFill>
                  <a:srgbClr val="132A3A"/>
                </a:solidFill>
                <a:latin typeface="Aptos"/>
                <a:ea typeface="Aptos"/>
                <a:cs typeface="Aptos"/>
              </a:rPr>
              <a:t>Private client 3</a:t>
            </a:r>
          </a:p>
        </p:txBody>
      </p:sp>
      <p:sp>
        <p:nvSpPr>
          <p:cNvPr id="10" name="">
            <a:extLst xmlns:a="http://schemas.openxmlformats.org/drawingml/2006/main">
              <a:ext uri="{FF2B5EF4-FFF2-40B4-BE49-F238E27FC236}">
                <a16:creationId xmlns:a16="http://schemas.microsoft.com/office/drawing/2014/main" id="{5C420B46-2B2B-43D6-A419-A513143D8FD0}"/>
              </a:ext>
            </a:extLst>
          </p:cNvPr>
          <p:cNvSpPr>
            <a:spLocks xmlns:a="http://schemas.openxmlformats.org/drawingml/2006/main" noGrp="1"/>
          </p:cNvSpPr>
          <p:nvPr/>
        </p:nvSpPr>
        <p:spPr>
          <a:xfrm xmlns:a="http://schemas.openxmlformats.org/drawingml/2006/main">
            <a:off x="5019675" y="2762250"/>
            <a:ext cx="2390775" cy="1333500"/>
          </a:xfrm>
          <a:prstGeom xmlns:a="http://schemas.openxmlformats.org/drawingml/2006/main" prst="roundRect">
            <a:avLst>
              <a:gd name="adj" fmla="val 10000"/>
            </a:avLst>
          </a:prstGeom>
          <a:solidFill xmlns:a="http://schemas.openxmlformats.org/drawingml/2006/main">
            <a:srgbClr val="E7F8F6"/>
          </a:solidFill>
          <a:ln xmlns:a="http://schemas.openxmlformats.org/drawingml/2006/main" w="9525">
            <a:solidFill>
              <a:srgbClr val="18CBE2"/>
            </a:solidFill>
            <a:prstDash val="solid"/>
          </a:ln>
        </p:spPr>
      </p:sp>
      <p:sp>
        <p:nvSpPr>
          <p:cNvPr id="11" name="">
            <a:extLst xmlns:a="http://schemas.openxmlformats.org/drawingml/2006/main">
              <a:ext uri="{FF2B5EF4-FFF2-40B4-BE49-F238E27FC236}">
                <a16:creationId xmlns:a16="http://schemas.microsoft.com/office/drawing/2014/main" id="{8963F427-E06A-42EB-80C7-276A97626F96}"/>
              </a:ext>
            </a:extLst>
          </p:cNvPr>
          <p:cNvSpPr>
            <a:spLocks xmlns:a="http://schemas.openxmlformats.org/drawingml/2006/main" noGrp="1"/>
          </p:cNvSpPr>
          <p:nvPr/>
        </p:nvSpPr>
        <p:spPr>
          <a:xfrm xmlns:a="http://schemas.openxmlformats.org/drawingml/2006/main">
            <a:off x="5133975" y="2838450"/>
            <a:ext cx="2162175"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132A3A"/>
                </a:solidFill>
                <a:latin typeface="Aptos"/>
                <a:ea typeface="Aptos"/>
                <a:cs typeface="Aptos"/>
              </a:defRPr>
            </a:pPr>
            <a:r>
              <a:rPr sz="1950" b="1">
                <a:solidFill>
                  <a:srgbClr val="132A3A"/>
                </a:solidFill>
                <a:latin typeface="Aptos"/>
                <a:ea typeface="Aptos"/>
                <a:cs typeface="Aptos"/>
              </a:rPr>
              <a:t>RTR-1</a:t>
            </a:r>
          </a:p>
          <a:p xmlns:a="http://schemas.openxmlformats.org/drawingml/2006/main">
            <a:pPr algn="ctr">
              <a:defRPr sz="1950" b="1">
                <a:solidFill>
                  <a:srgbClr val="132A3A"/>
                </a:solidFill>
                <a:latin typeface="Aptos"/>
                <a:ea typeface="Aptos"/>
                <a:cs typeface="Aptos"/>
              </a:defRPr>
            </a:pPr>
            <a:r>
              <a:rPr sz="1950" b="1">
                <a:solidFill>
                  <a:srgbClr val="132A3A"/>
                </a:solidFill>
                <a:latin typeface="Aptos"/>
                <a:ea typeface="Aptos"/>
                <a:cs typeface="Aptos"/>
              </a:rPr>
              <a:t>PAT overload</a:t>
            </a:r>
          </a:p>
        </p:txBody>
      </p:sp>
      <p:sp>
        <p:nvSpPr>
          <p:cNvPr id="12" name="">
            <a:extLst xmlns:a="http://schemas.openxmlformats.org/drawingml/2006/main">
              <a:ext uri="{FF2B5EF4-FFF2-40B4-BE49-F238E27FC236}">
                <a16:creationId xmlns:a16="http://schemas.microsoft.com/office/drawing/2014/main" id="{958E6991-3096-47A8-BC0D-D2B4092ED9A0}"/>
              </a:ext>
            </a:extLst>
          </p:cNvPr>
          <p:cNvSpPr>
            <a:spLocks xmlns:a="http://schemas.openxmlformats.org/drawingml/2006/main" noGrp="1"/>
          </p:cNvSpPr>
          <p:nvPr/>
        </p:nvSpPr>
        <p:spPr>
          <a:xfrm xmlns:a="http://schemas.openxmlformats.org/drawingml/2006/main">
            <a:off x="8934450" y="2762250"/>
            <a:ext cx="2343150" cy="1333500"/>
          </a:xfrm>
          <a:prstGeom xmlns:a="http://schemas.openxmlformats.org/drawingml/2006/main" prst="roundRect">
            <a:avLst>
              <a:gd name="adj" fmla="val 10000"/>
            </a:avLst>
          </a:prstGeom>
          <a:solidFill xmlns:a="http://schemas.openxmlformats.org/drawingml/2006/main">
            <a:srgbClr val="FFF6E8"/>
          </a:solidFill>
          <a:ln xmlns:a="http://schemas.openxmlformats.org/drawingml/2006/main" w="9525">
            <a:solidFill>
              <a:srgbClr val="F3B96A"/>
            </a:solidFill>
            <a:prstDash val="solid"/>
          </a:ln>
        </p:spPr>
      </p:sp>
      <p:sp>
        <p:nvSpPr>
          <p:cNvPr id="13" name="">
            <a:extLst xmlns:a="http://schemas.openxmlformats.org/drawingml/2006/main">
              <a:ext uri="{FF2B5EF4-FFF2-40B4-BE49-F238E27FC236}">
                <a16:creationId xmlns:a16="http://schemas.microsoft.com/office/drawing/2014/main" id="{016CF785-328F-43D4-87D1-4369B77AC2EE}"/>
              </a:ext>
            </a:extLst>
          </p:cNvPr>
          <p:cNvSpPr>
            <a:spLocks xmlns:a="http://schemas.openxmlformats.org/drawingml/2006/main" noGrp="1"/>
          </p:cNvSpPr>
          <p:nvPr/>
        </p:nvSpPr>
        <p:spPr>
          <a:xfrm xmlns:a="http://schemas.openxmlformats.org/drawingml/2006/main">
            <a:off x="9048750" y="2838450"/>
            <a:ext cx="21145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RTR-2</a:t>
            </a:r>
          </a:p>
          <a:p xmlns:a="http://schemas.openxmlformats.org/drawingml/2006/main">
            <a:pPr algn="ctr">
              <a:defRPr sz="1875" b="1">
                <a:solidFill>
                  <a:srgbClr val="132A3A"/>
                </a:solidFill>
                <a:latin typeface="Aptos"/>
                <a:ea typeface="Aptos"/>
                <a:cs typeface="Aptos"/>
              </a:defRPr>
            </a:pPr>
            <a:r>
              <a:rPr sz="1875" b="1">
                <a:solidFill>
                  <a:srgbClr val="132A3A"/>
                </a:solidFill>
                <a:latin typeface="Aptos"/>
                <a:ea typeface="Aptos"/>
                <a:cs typeface="Aptos"/>
              </a:rPr>
              <a:t>Simulated outside</a:t>
            </a:r>
          </a:p>
        </p:txBody>
      </p:sp>
      <p:sp>
        <p:nvSpPr>
          <p:cNvPr id="14" name="">
            <a:extLst xmlns:a="http://schemas.openxmlformats.org/drawingml/2006/main">
              <a:ext uri="{FF2B5EF4-FFF2-40B4-BE49-F238E27FC236}">
                <a16:creationId xmlns:a16="http://schemas.microsoft.com/office/drawing/2014/main" id="{E8B729F6-F4F4-4B25-9C24-2537B1D56DD4}"/>
              </a:ext>
            </a:extLst>
          </p:cNvPr>
          <p:cNvSpPr>
            <a:spLocks xmlns:a="http://schemas.openxmlformats.org/drawingml/2006/main" noGrp="1"/>
          </p:cNvSpPr>
          <p:nvPr/>
        </p:nvSpPr>
        <p:spPr>
          <a:xfrm xmlns:a="http://schemas.openxmlformats.org/drawingml/2006/main" flipV="0">
            <a:off x="3619500" y="2247900"/>
            <a:ext cx="1190625" cy="1057275"/>
          </a:xfrm>
          <a:prstGeom xmlns:a="http://schemas.openxmlformats.org/drawingml/2006/main" prst="line">
            <a:avLst/>
          </a:prstGeom>
          <a:noFill xmlns:a="http://schemas.openxmlformats.org/drawingml/2006/main"/>
          <a:ln xmlns:a="http://schemas.openxmlformats.org/drawingml/2006/main" w="47625">
            <a:solidFill>
              <a:srgbClr val="2089C4"/>
            </a:solidFill>
            <a:prstDash val="solid"/>
          </a:ln>
        </p:spPr>
      </p:sp>
      <p:sp>
        <p:nvSpPr>
          <p:cNvPr id="15" name="">
            <a:extLst xmlns:a="http://schemas.openxmlformats.org/drawingml/2006/main">
              <a:ext uri="{FF2B5EF4-FFF2-40B4-BE49-F238E27FC236}">
                <a16:creationId xmlns:a16="http://schemas.microsoft.com/office/drawing/2014/main" id="{84C6BC1D-D3B4-4AAD-B597-8A65946CD660}"/>
              </a:ext>
            </a:extLst>
          </p:cNvPr>
          <p:cNvSpPr>
            <a:spLocks xmlns:a="http://schemas.openxmlformats.org/drawingml/2006/main" noGrp="1"/>
          </p:cNvSpPr>
          <p:nvPr/>
        </p:nvSpPr>
        <p:spPr>
          <a:xfrm xmlns:a="http://schemas.openxmlformats.org/drawingml/2006/main" flipV="0">
            <a:off x="3619500" y="3419475"/>
            <a:ext cx="1190625" cy="0"/>
          </a:xfrm>
          <a:prstGeom xmlns:a="http://schemas.openxmlformats.org/drawingml/2006/main" prst="line">
            <a:avLst/>
          </a:prstGeom>
          <a:noFill xmlns:a="http://schemas.openxmlformats.org/drawingml/2006/main"/>
          <a:ln xmlns:a="http://schemas.openxmlformats.org/drawingml/2006/main" w="47625">
            <a:solidFill>
              <a:srgbClr val="48CBAA"/>
            </a:solidFill>
            <a:prstDash val="solid"/>
          </a:ln>
        </p:spPr>
      </p:sp>
      <p:sp>
        <p:nvSpPr>
          <p:cNvPr id="16" name="">
            <a:extLst xmlns:a="http://schemas.openxmlformats.org/drawingml/2006/main">
              <a:ext uri="{FF2B5EF4-FFF2-40B4-BE49-F238E27FC236}">
                <a16:creationId xmlns:a16="http://schemas.microsoft.com/office/drawing/2014/main" id="{932C14C7-5B4F-4515-8E65-D16F737DEE0D}"/>
              </a:ext>
            </a:extLst>
          </p:cNvPr>
          <p:cNvSpPr>
            <a:spLocks xmlns:a="http://schemas.openxmlformats.org/drawingml/2006/main" noGrp="1"/>
          </p:cNvSpPr>
          <p:nvPr/>
        </p:nvSpPr>
        <p:spPr>
          <a:xfrm xmlns:a="http://schemas.openxmlformats.org/drawingml/2006/main" flipV="1">
            <a:off x="3619500" y="3533775"/>
            <a:ext cx="1190625" cy="1057275"/>
          </a:xfrm>
          <a:prstGeom xmlns:a="http://schemas.openxmlformats.org/drawingml/2006/main" prst="line">
            <a:avLst/>
          </a:prstGeom>
          <a:noFill xmlns:a="http://schemas.openxmlformats.org/drawingml/2006/main"/>
          <a:ln xmlns:a="http://schemas.openxmlformats.org/drawingml/2006/main" w="47625">
            <a:solidFill>
              <a:srgbClr val="B39AE4"/>
            </a:solidFill>
            <a:prstDash val="solid"/>
          </a:ln>
        </p:spPr>
      </p:sp>
      <p:sp>
        <p:nvSpPr>
          <p:cNvPr id="17" name="">
            <a:extLst xmlns:a="http://schemas.openxmlformats.org/drawingml/2006/main">
              <a:ext uri="{FF2B5EF4-FFF2-40B4-BE49-F238E27FC236}">
                <a16:creationId xmlns:a16="http://schemas.microsoft.com/office/drawing/2014/main" id="{1BD15D65-68CE-44C5-9BC6-594A91915543}"/>
              </a:ext>
            </a:extLst>
          </p:cNvPr>
          <p:cNvSpPr>
            <a:spLocks xmlns:a="http://schemas.openxmlformats.org/drawingml/2006/main" noGrp="1"/>
          </p:cNvSpPr>
          <p:nvPr/>
        </p:nvSpPr>
        <p:spPr>
          <a:xfrm xmlns:a="http://schemas.openxmlformats.org/drawingml/2006/main">
            <a:off x="7581900" y="3238500"/>
            <a:ext cx="1095375" cy="371475"/>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C6F4E2F-54CB-4592-8B15-B3BC68E52C93}"/>
              </a:ext>
            </a:extLst>
          </p:cNvPr>
          <p:cNvSpPr>
            <a:spLocks xmlns:a="http://schemas.openxmlformats.org/drawingml/2006/main" noGrp="1"/>
          </p:cNvSpPr>
          <p:nvPr/>
        </p:nvSpPr>
        <p:spPr>
          <a:xfrm xmlns:a="http://schemas.openxmlformats.org/drawingml/2006/main">
            <a:off x="3476625" y="52863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5E7485"/>
                </a:solidFill>
                <a:latin typeface="Aptos"/>
                <a:ea typeface="Aptos"/>
                <a:cs typeface="Aptos"/>
              </a:defRPr>
            </a:pPr>
            <a:r>
              <a:rPr sz="1875" b="0">
                <a:solidFill>
                  <a:srgbClr val="5E7485"/>
                </a:solidFill>
                <a:latin typeface="Aptos"/>
                <a:ea typeface="Aptos"/>
                <a:cs typeface="Aptos"/>
              </a:rPr>
              <a:t>Many private sources share 209.165.200.233</a:t>
            </a:r>
          </a:p>
        </p:txBody>
      </p:sp>
    </p:spTree>
    <p:extLst>
      <p:ext uri="{BB962C8B-B14F-4D97-AF65-F5344CB8AC3E}">
        <p14:creationId xmlns:p14="http://schemas.microsoft.com/office/powerpoint/2010/main" val="42050321"/>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4D73D72-2AF8-44F2-B429-73BF70884B55}"/>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SSH and basic device setup</a:t>
            </a:r>
          </a:p>
        </p:txBody>
      </p:sp>
      <p:sp>
        <p:nvSpPr>
          <p:cNvPr id="2" name="">
            <a:extLst xmlns:a="http://schemas.openxmlformats.org/drawingml/2006/main">
              <a:ext uri="{FF2B5EF4-FFF2-40B4-BE49-F238E27FC236}">
                <a16:creationId xmlns:a16="http://schemas.microsoft.com/office/drawing/2014/main" id="{C8665101-7AD3-4A49-86A8-B5E4EA847B23}"/>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F95FDF-328F-499D-B00F-3562A6D2C484}"/>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C158A45F-7F40-4C33-BC38-5196FF3053DB}"/>
              </a:ext>
            </a:extLst>
          </p:cNvPr>
          <p:cNvSpPr>
            <a:spLocks xmlns:a="http://schemas.openxmlformats.org/drawingml/2006/main" noGrp="1"/>
          </p:cNvSpPr>
          <p:nvPr/>
        </p:nvSpPr>
        <p:spPr>
          <a:xfrm xmlns:a="http://schemas.openxmlformats.org/drawingml/2006/main">
            <a:off x="1543050" y="2419350"/>
            <a:ext cx="1619250" cy="1619250"/>
          </a:xfrm>
          <a:prstGeom xmlns:a="http://schemas.openxmlformats.org/drawingml/2006/main" prst="ellipse">
            <a:avLst/>
          </a:prstGeom>
          <a:solidFill xmlns:a="http://schemas.openxmlformats.org/drawingml/2006/main">
            <a:srgbClr val="10294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EFBE8B-A834-4B4A-BBFA-ECDC5A69E53C}"/>
              </a:ext>
            </a:extLst>
          </p:cNvPr>
          <p:cNvSpPr>
            <a:spLocks xmlns:a="http://schemas.openxmlformats.org/drawingml/2006/main" noGrp="1"/>
          </p:cNvSpPr>
          <p:nvPr/>
        </p:nvSpPr>
        <p:spPr>
          <a:xfrm xmlns:a="http://schemas.openxmlformats.org/drawingml/2006/main">
            <a:off x="1714500" y="2847975"/>
            <a:ext cx="1276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675" b="1">
                <a:solidFill>
                  <a:srgbClr val="F8FCFD"/>
                </a:solidFill>
                <a:latin typeface="Aptos"/>
                <a:ea typeface="Aptos"/>
                <a:cs typeface="Aptos"/>
              </a:defRPr>
            </a:pPr>
            <a:r>
              <a:rPr sz="3675" b="1">
                <a:solidFill>
                  <a:srgbClr val="F8FCFD"/>
                </a:solidFill>
                <a:latin typeface="Aptos"/>
                <a:ea typeface="Aptos"/>
                <a:cs typeface="Aptos"/>
              </a:rPr>
              <a:t>SSH</a:t>
            </a:r>
          </a:p>
        </p:txBody>
      </p:sp>
      <p:sp>
        <p:nvSpPr>
          <p:cNvPr id="6" name="">
            <a:extLst xmlns:a="http://schemas.openxmlformats.org/drawingml/2006/main">
              <a:ext uri="{FF2B5EF4-FFF2-40B4-BE49-F238E27FC236}">
                <a16:creationId xmlns:a16="http://schemas.microsoft.com/office/drawing/2014/main" id="{D0D35303-F129-4A90-8E5E-D9100FDA006F}"/>
              </a:ext>
            </a:extLst>
          </p:cNvPr>
          <p:cNvSpPr>
            <a:spLocks xmlns:a="http://schemas.openxmlformats.org/drawingml/2006/main" noGrp="1"/>
          </p:cNvSpPr>
          <p:nvPr/>
        </p:nvSpPr>
        <p:spPr>
          <a:xfrm xmlns:a="http://schemas.openxmlformats.org/drawingml/2006/main">
            <a:off x="3714750" y="3076575"/>
            <a:ext cx="1238250" cy="400050"/>
          </a:xfrm>
          <a:prstGeom xmlns:a="http://schemas.openxmlformats.org/drawingml/2006/main" prst="rightArrow">
            <a:avLst/>
          </a:prstGeom>
          <a:solidFill xmlns:a="http://schemas.openxmlformats.org/drawingml/2006/main">
            <a:srgbClr val="18CBE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C820A61-3559-457E-BEC9-2AD5A327E152}"/>
              </a:ext>
            </a:extLst>
          </p:cNvPr>
          <p:cNvSpPr>
            <a:spLocks xmlns:a="http://schemas.openxmlformats.org/drawingml/2006/main" noGrp="1"/>
          </p:cNvSpPr>
          <p:nvPr/>
        </p:nvSpPr>
        <p:spPr>
          <a:xfrm xmlns:a="http://schemas.openxmlformats.org/drawingml/2006/main">
            <a:off x="5715000" y="2581275"/>
            <a:ext cx="3667125" cy="1619250"/>
          </a:xfrm>
          <a:prstGeom xmlns:a="http://schemas.openxmlformats.org/drawingml/2006/main" prst="roundRect">
            <a:avLst>
              <a:gd name="adj" fmla="val 8235"/>
            </a:avLst>
          </a:prstGeom>
          <a:solidFill xmlns:a="http://schemas.openxmlformats.org/drawingml/2006/main">
            <a:srgbClr val="F8FCFD"/>
          </a:solidFill>
          <a:ln xmlns:a="http://schemas.openxmlformats.org/drawingml/2006/main" w="9525">
            <a:solidFill>
              <a:srgbClr val="2089C4"/>
            </a:solidFill>
            <a:prstDash val="solid"/>
          </a:ln>
        </p:spPr>
      </p:sp>
      <p:sp>
        <p:nvSpPr>
          <p:cNvPr id="8" name="">
            <a:extLst xmlns:a="http://schemas.openxmlformats.org/drawingml/2006/main">
              <a:ext uri="{FF2B5EF4-FFF2-40B4-BE49-F238E27FC236}">
                <a16:creationId xmlns:a16="http://schemas.microsoft.com/office/drawing/2014/main" id="{D07C8F60-85B5-405A-BA1D-13E787992D19}"/>
              </a:ext>
            </a:extLst>
          </p:cNvPr>
          <p:cNvSpPr>
            <a:spLocks xmlns:a="http://schemas.openxmlformats.org/drawingml/2006/main" noGrp="1"/>
          </p:cNvSpPr>
          <p:nvPr/>
        </p:nvSpPr>
        <p:spPr>
          <a:xfrm xmlns:a="http://schemas.openxmlformats.org/drawingml/2006/main">
            <a:off x="5905500" y="2771775"/>
            <a:ext cx="3286125" cy="114300"/>
          </a:xfrm>
          <a:prstGeom xmlns:a="http://schemas.openxmlformats.org/drawingml/2006/main" prst="rect">
            <a:avLst/>
          </a:prstGeom>
          <a:solidFill xmlns:a="http://schemas.openxmlformats.org/drawingml/2006/main">
            <a:srgbClr val="2089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7B4A38B-B8EA-4F99-90EA-164AA330D4B5}"/>
              </a:ext>
            </a:extLst>
          </p:cNvPr>
          <p:cNvSpPr>
            <a:spLocks xmlns:a="http://schemas.openxmlformats.org/drawingml/2006/main" noGrp="1"/>
          </p:cNvSpPr>
          <p:nvPr/>
        </p:nvSpPr>
        <p:spPr>
          <a:xfrm xmlns:a="http://schemas.openxmlformats.org/drawingml/2006/main">
            <a:off x="6029325" y="29908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852B24-BC31-4E8A-B3C3-F9C5806122EB}"/>
              </a:ext>
            </a:extLst>
          </p:cNvPr>
          <p:cNvSpPr>
            <a:spLocks xmlns:a="http://schemas.openxmlformats.org/drawingml/2006/main" noGrp="1"/>
          </p:cNvSpPr>
          <p:nvPr/>
        </p:nvSpPr>
        <p:spPr>
          <a:xfrm xmlns:a="http://schemas.openxmlformats.org/drawingml/2006/main">
            <a:off x="6324600" y="29908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CBE04D0-975E-45EB-937A-7536034276A7}"/>
              </a:ext>
            </a:extLst>
          </p:cNvPr>
          <p:cNvSpPr>
            <a:spLocks xmlns:a="http://schemas.openxmlformats.org/drawingml/2006/main" noGrp="1"/>
          </p:cNvSpPr>
          <p:nvPr/>
        </p:nvSpPr>
        <p:spPr>
          <a:xfrm xmlns:a="http://schemas.openxmlformats.org/drawingml/2006/main">
            <a:off x="6619875" y="29908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42029F9-096C-4613-999B-05B20CCB0F03}"/>
              </a:ext>
            </a:extLst>
          </p:cNvPr>
          <p:cNvSpPr>
            <a:spLocks xmlns:a="http://schemas.openxmlformats.org/drawingml/2006/main" noGrp="1"/>
          </p:cNvSpPr>
          <p:nvPr/>
        </p:nvSpPr>
        <p:spPr>
          <a:xfrm xmlns:a="http://schemas.openxmlformats.org/drawingml/2006/main">
            <a:off x="6915150" y="2990850"/>
            <a:ext cx="114300" cy="114300"/>
          </a:xfrm>
          <a:prstGeom xmlns:a="http://schemas.openxmlformats.org/drawingml/2006/main" prst="ellipse">
            <a:avLst/>
          </a:prstGeom>
          <a:solidFill xmlns:a="http://schemas.openxmlformats.org/drawingml/2006/main">
            <a:srgbClr val="2089C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80D878A-8CA6-4047-86EF-3418D9EAE2AF}"/>
              </a:ext>
            </a:extLst>
          </p:cNvPr>
          <p:cNvSpPr>
            <a:spLocks xmlns:a="http://schemas.openxmlformats.org/drawingml/2006/main" noGrp="1"/>
          </p:cNvSpPr>
          <p:nvPr/>
        </p:nvSpPr>
        <p:spPr>
          <a:xfrm xmlns:a="http://schemas.openxmlformats.org/drawingml/2006/main">
            <a:off x="5829300" y="3238500"/>
            <a:ext cx="3438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32A3A"/>
                </a:solidFill>
                <a:latin typeface="Aptos"/>
                <a:ea typeface="Aptos"/>
                <a:cs typeface="Aptos"/>
              </a:defRPr>
            </a:pPr>
            <a:r>
              <a:rPr sz="1650" b="1">
                <a:solidFill>
                  <a:srgbClr val="132A3A"/>
                </a:solidFill>
                <a:latin typeface="Aptos"/>
                <a:ea typeface="Aptos"/>
                <a:cs typeface="Aptos"/>
              </a:rPr>
              <a:t>Router / switch</a:t>
            </a:r>
          </a:p>
        </p:txBody>
      </p:sp>
      <p:sp>
        <p:nvSpPr>
          <p:cNvPr id="14" name="">
            <a:extLst xmlns:a="http://schemas.openxmlformats.org/drawingml/2006/main">
              <a:ext uri="{FF2B5EF4-FFF2-40B4-BE49-F238E27FC236}">
                <a16:creationId xmlns:a16="http://schemas.microsoft.com/office/drawing/2014/main" id="{AC6C5C89-CC70-4C4E-A3EE-97582828F1C1}"/>
              </a:ext>
            </a:extLst>
          </p:cNvPr>
          <p:cNvSpPr>
            <a:spLocks xmlns:a="http://schemas.openxmlformats.org/drawingml/2006/main" noGrp="1"/>
          </p:cNvSpPr>
          <p:nvPr/>
        </p:nvSpPr>
        <p:spPr>
          <a:xfrm xmlns:a="http://schemas.openxmlformats.org/drawingml/2006/main">
            <a:off x="1190625" y="5286375"/>
            <a:ext cx="981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5E7485"/>
                </a:solidFill>
                <a:latin typeface="Aptos"/>
                <a:ea typeface="Aptos"/>
                <a:cs typeface="Aptos"/>
              </a:defRPr>
            </a:pPr>
            <a:r>
              <a:rPr sz="2025" b="0">
                <a:solidFill>
                  <a:srgbClr val="5E7485"/>
                </a:solidFill>
                <a:latin typeface="Aptos"/>
                <a:ea typeface="Aptos"/>
                <a:cs typeface="Aptos"/>
              </a:rPr>
              <a:t>Hostnames  •  enable secret  •  MOTD</a:t>
            </a:r>
          </a:p>
        </p:txBody>
      </p:sp>
    </p:spTree>
    <p:extLst>
      <p:ext uri="{BB962C8B-B14F-4D97-AF65-F5344CB8AC3E}">
        <p14:creationId xmlns:p14="http://schemas.microsoft.com/office/powerpoint/2010/main" val="1459518726"/>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8FC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11FCAD7-3ABF-4B55-90A4-A4C8E021BE65}"/>
              </a:ext>
            </a:extLst>
          </p:cNvPr>
          <p:cNvSpPr>
            <a:spLocks xmlns:a="http://schemas.openxmlformats.org/drawingml/2006/main" noGrp="1"/>
          </p:cNvSpPr>
          <p:nvPr/>
        </p:nvSpPr>
        <p:spPr>
          <a:xfrm xmlns:a="http://schemas.openxmlformats.org/drawingml/2006/main">
            <a:off x="6477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3150" b="1">
                <a:solidFill>
                  <a:srgbClr val="132A3A"/>
                </a:solidFill>
                <a:latin typeface="Aptos"/>
                <a:ea typeface="Aptos"/>
                <a:cs typeface="Aptos"/>
              </a:defRPr>
            </a:pPr>
            <a:r>
              <a:rPr sz="3150" b="1">
                <a:solidFill>
                  <a:srgbClr val="132A3A"/>
                </a:solidFill>
                <a:latin typeface="Aptos"/>
                <a:ea typeface="Aptos"/>
                <a:cs typeface="Aptos"/>
              </a:rPr>
              <a:t>What we verify live</a:t>
            </a:r>
          </a:p>
        </p:txBody>
      </p:sp>
      <p:sp>
        <p:nvSpPr>
          <p:cNvPr id="2" name="">
            <a:extLst xmlns:a="http://schemas.openxmlformats.org/drawingml/2006/main">
              <a:ext uri="{FF2B5EF4-FFF2-40B4-BE49-F238E27FC236}">
                <a16:creationId xmlns:a16="http://schemas.microsoft.com/office/drawing/2014/main" id="{8E3B1D2D-FA7E-4EDB-B06C-414BC1691FA0}"/>
              </a:ext>
            </a:extLst>
          </p:cNvPr>
          <p:cNvSpPr>
            <a:spLocks xmlns:a="http://schemas.openxmlformats.org/drawingml/2006/main" noGrp="1"/>
          </p:cNvSpPr>
          <p:nvPr/>
        </p:nvSpPr>
        <p:spPr>
          <a:xfrm xmlns:a="http://schemas.openxmlformats.org/drawingml/2006/main">
            <a:off x="647700" y="1190625"/>
            <a:ext cx="762000" cy="47625"/>
          </a:xfrm>
          <a:prstGeom xmlns:a="http://schemas.openxmlformats.org/drawingml/2006/main" prst="rect">
            <a:avLst/>
          </a:prstGeom>
          <a:solidFill xmlns:a="http://schemas.openxmlformats.org/drawingml/2006/main">
            <a:srgbClr val="18CB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BC7F56-7299-4BC9-A405-568118EAAE11}"/>
              </a:ext>
            </a:extLst>
          </p:cNvPr>
          <p:cNvSpPr>
            <a:spLocks xmlns:a="http://schemas.openxmlformats.org/drawingml/2006/main" noGrp="1"/>
          </p:cNvSpPr>
          <p:nvPr/>
        </p:nvSpPr>
        <p:spPr>
          <a:xfrm xmlns:a="http://schemas.openxmlformats.org/drawingml/2006/main">
            <a:off x="11239500" y="4476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275" b="0">
                <a:solidFill>
                  <a:srgbClr val="5E7485"/>
                </a:solidFill>
                <a:latin typeface="Aptos"/>
                <a:ea typeface="Aptos"/>
                <a:cs typeface="Aptos"/>
              </a:defRPr>
            </a:pPr>
            <a:r>
              <a:rPr sz="1275" b="0">
                <a:solidFill>
                  <a:srgbClr val="5E7485"/>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F35C3461-F38D-4857-9506-360326031B3D}"/>
              </a:ext>
            </a:extLst>
          </p:cNvPr>
          <p:cNvSpPr>
            <a:spLocks xmlns:a="http://schemas.openxmlformats.org/drawingml/2006/main" noGrp="1"/>
          </p:cNvSpPr>
          <p:nvPr/>
        </p:nvSpPr>
        <p:spPr>
          <a:xfrm xmlns:a="http://schemas.openxmlformats.org/drawingml/2006/main">
            <a:off x="704850" y="1857375"/>
            <a:ext cx="5191125" cy="1457325"/>
          </a:xfrm>
          <a:prstGeom xmlns:a="http://schemas.openxmlformats.org/drawingml/2006/main" prst="roundRect">
            <a:avLst>
              <a:gd name="adj" fmla="val 7843"/>
            </a:avLst>
          </a:prstGeom>
          <a:solidFill xmlns:a="http://schemas.openxmlformats.org/drawingml/2006/main">
            <a:srgbClr val="F8FCFD"/>
          </a:solidFill>
          <a:ln xmlns:a="http://schemas.openxmlformats.org/drawingml/2006/main" w="9525">
            <a:solidFill>
              <a:srgbClr val="2089C4"/>
            </a:solidFill>
            <a:prstDash val="solid"/>
          </a:ln>
        </p:spPr>
      </p:sp>
      <p:sp>
        <p:nvSpPr>
          <p:cNvPr id="5" name="">
            <a:extLst xmlns:a="http://schemas.openxmlformats.org/drawingml/2006/main">
              <a:ext uri="{FF2B5EF4-FFF2-40B4-BE49-F238E27FC236}">
                <a16:creationId xmlns:a16="http://schemas.microsoft.com/office/drawing/2014/main" id="{B0C77A17-45D9-4CCE-99E3-44FEE29338E8}"/>
              </a:ext>
            </a:extLst>
          </p:cNvPr>
          <p:cNvSpPr>
            <a:spLocks xmlns:a="http://schemas.openxmlformats.org/drawingml/2006/main" noGrp="1"/>
          </p:cNvSpPr>
          <p:nvPr/>
        </p:nvSpPr>
        <p:spPr>
          <a:xfrm xmlns:a="http://schemas.openxmlformats.org/drawingml/2006/main">
            <a:off x="933450" y="2047875"/>
            <a:ext cx="47339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32A3A"/>
                </a:solidFill>
                <a:latin typeface="Aptos"/>
                <a:ea typeface="Aptos"/>
                <a:cs typeface="Aptos"/>
              </a:defRPr>
            </a:pPr>
            <a:r>
              <a:rPr sz="2175" b="1">
                <a:solidFill>
                  <a:srgbClr val="132A3A"/>
                </a:solidFill>
                <a:latin typeface="Aptos"/>
                <a:ea typeface="Aptos"/>
                <a:cs typeface="Aptos"/>
              </a:rPr>
              <a:t>VLANs + trunks</a:t>
            </a:r>
          </a:p>
        </p:txBody>
      </p:sp>
      <p:sp>
        <p:nvSpPr>
          <p:cNvPr id="6" name="">
            <a:extLst xmlns:a="http://schemas.openxmlformats.org/drawingml/2006/main">
              <a:ext uri="{FF2B5EF4-FFF2-40B4-BE49-F238E27FC236}">
                <a16:creationId xmlns:a16="http://schemas.microsoft.com/office/drawing/2014/main" id="{62E0D975-67A1-4A70-8E42-945DB0CD800A}"/>
              </a:ext>
            </a:extLst>
          </p:cNvPr>
          <p:cNvSpPr>
            <a:spLocks xmlns:a="http://schemas.openxmlformats.org/drawingml/2006/main" noGrp="1"/>
          </p:cNvSpPr>
          <p:nvPr/>
        </p:nvSpPr>
        <p:spPr>
          <a:xfrm xmlns:a="http://schemas.openxmlformats.org/drawingml/2006/main">
            <a:off x="933450" y="2667000"/>
            <a:ext cx="4733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E7485"/>
                </a:solidFill>
                <a:latin typeface="Aptos"/>
                <a:ea typeface="Aptos"/>
                <a:cs typeface="Aptos"/>
              </a:defRPr>
            </a:pPr>
            <a:r>
              <a:rPr sz="1500" b="0">
                <a:solidFill>
                  <a:srgbClr val="5E7485"/>
                </a:solidFill>
                <a:latin typeface="Aptos"/>
                <a:ea typeface="Aptos"/>
                <a:cs typeface="Aptos"/>
              </a:rPr>
              <a:t>show vlan brief</a:t>
            </a:r>
          </a:p>
        </p:txBody>
      </p:sp>
      <p:sp>
        <p:nvSpPr>
          <p:cNvPr id="7" name="">
            <a:extLst xmlns:a="http://schemas.openxmlformats.org/drawingml/2006/main">
              <a:ext uri="{FF2B5EF4-FFF2-40B4-BE49-F238E27FC236}">
                <a16:creationId xmlns:a16="http://schemas.microsoft.com/office/drawing/2014/main" id="{A298EB87-72B4-40BD-BA0C-E15393C49252}"/>
              </a:ext>
            </a:extLst>
          </p:cNvPr>
          <p:cNvSpPr>
            <a:spLocks xmlns:a="http://schemas.openxmlformats.org/drawingml/2006/main" noGrp="1"/>
          </p:cNvSpPr>
          <p:nvPr/>
        </p:nvSpPr>
        <p:spPr>
          <a:xfrm xmlns:a="http://schemas.openxmlformats.org/drawingml/2006/main">
            <a:off x="6267450" y="1857375"/>
            <a:ext cx="5191125" cy="1457325"/>
          </a:xfrm>
          <a:prstGeom xmlns:a="http://schemas.openxmlformats.org/drawingml/2006/main" prst="roundRect">
            <a:avLst>
              <a:gd name="adj" fmla="val 7843"/>
            </a:avLst>
          </a:prstGeom>
          <a:solidFill xmlns:a="http://schemas.openxmlformats.org/drawingml/2006/main">
            <a:srgbClr val="F8FCFD"/>
          </a:solidFill>
          <a:ln xmlns:a="http://schemas.openxmlformats.org/drawingml/2006/main" w="9525">
            <a:solidFill>
              <a:srgbClr val="48CBAA"/>
            </a:solidFill>
            <a:prstDash val="solid"/>
          </a:ln>
        </p:spPr>
      </p:sp>
      <p:sp>
        <p:nvSpPr>
          <p:cNvPr id="8" name="">
            <a:extLst xmlns:a="http://schemas.openxmlformats.org/drawingml/2006/main">
              <a:ext uri="{FF2B5EF4-FFF2-40B4-BE49-F238E27FC236}">
                <a16:creationId xmlns:a16="http://schemas.microsoft.com/office/drawing/2014/main" id="{93ECEEEF-4E38-4196-ACD6-13A768DD09C4}"/>
              </a:ext>
            </a:extLst>
          </p:cNvPr>
          <p:cNvSpPr>
            <a:spLocks xmlns:a="http://schemas.openxmlformats.org/drawingml/2006/main" noGrp="1"/>
          </p:cNvSpPr>
          <p:nvPr/>
        </p:nvSpPr>
        <p:spPr>
          <a:xfrm xmlns:a="http://schemas.openxmlformats.org/drawingml/2006/main">
            <a:off x="6496050" y="2047875"/>
            <a:ext cx="47339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32A3A"/>
                </a:solidFill>
                <a:latin typeface="Aptos"/>
                <a:ea typeface="Aptos"/>
                <a:cs typeface="Aptos"/>
              </a:defRPr>
            </a:pPr>
            <a:r>
              <a:rPr sz="2175" b="1">
                <a:solidFill>
                  <a:srgbClr val="132A3A"/>
                </a:solidFill>
                <a:latin typeface="Aptos"/>
                <a:ea typeface="Aptos"/>
                <a:cs typeface="Aptos"/>
              </a:rPr>
              <a:t>HSRP</a:t>
            </a:r>
          </a:p>
        </p:txBody>
      </p:sp>
      <p:sp>
        <p:nvSpPr>
          <p:cNvPr id="9" name="">
            <a:extLst xmlns:a="http://schemas.openxmlformats.org/drawingml/2006/main">
              <a:ext uri="{FF2B5EF4-FFF2-40B4-BE49-F238E27FC236}">
                <a16:creationId xmlns:a16="http://schemas.microsoft.com/office/drawing/2014/main" id="{71F1B025-1907-408D-8C6E-05C71738FC3E}"/>
              </a:ext>
            </a:extLst>
          </p:cNvPr>
          <p:cNvSpPr>
            <a:spLocks xmlns:a="http://schemas.openxmlformats.org/drawingml/2006/main" noGrp="1"/>
          </p:cNvSpPr>
          <p:nvPr/>
        </p:nvSpPr>
        <p:spPr>
          <a:xfrm xmlns:a="http://schemas.openxmlformats.org/drawingml/2006/main">
            <a:off x="6496050" y="2667000"/>
            <a:ext cx="4733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E7485"/>
                </a:solidFill>
                <a:latin typeface="Aptos"/>
                <a:ea typeface="Aptos"/>
                <a:cs typeface="Aptos"/>
              </a:defRPr>
            </a:pPr>
            <a:r>
              <a:rPr sz="1500" b="0">
                <a:solidFill>
                  <a:srgbClr val="5E7485"/>
                </a:solidFill>
                <a:latin typeface="Aptos"/>
                <a:ea typeface="Aptos"/>
                <a:cs typeface="Aptos"/>
              </a:rPr>
              <a:t>show standby brief</a:t>
            </a:r>
          </a:p>
        </p:txBody>
      </p:sp>
      <p:sp>
        <p:nvSpPr>
          <p:cNvPr id="10" name="">
            <a:extLst xmlns:a="http://schemas.openxmlformats.org/drawingml/2006/main">
              <a:ext uri="{FF2B5EF4-FFF2-40B4-BE49-F238E27FC236}">
                <a16:creationId xmlns:a16="http://schemas.microsoft.com/office/drawing/2014/main" id="{8A2189A7-AA79-4726-9DB0-ED4877BD3C24}"/>
              </a:ext>
            </a:extLst>
          </p:cNvPr>
          <p:cNvSpPr>
            <a:spLocks xmlns:a="http://schemas.openxmlformats.org/drawingml/2006/main" noGrp="1"/>
          </p:cNvSpPr>
          <p:nvPr/>
        </p:nvSpPr>
        <p:spPr>
          <a:xfrm xmlns:a="http://schemas.openxmlformats.org/drawingml/2006/main">
            <a:off x="704850" y="3733800"/>
            <a:ext cx="5191125" cy="1457325"/>
          </a:xfrm>
          <a:prstGeom xmlns:a="http://schemas.openxmlformats.org/drawingml/2006/main" prst="roundRect">
            <a:avLst>
              <a:gd name="adj" fmla="val 7843"/>
            </a:avLst>
          </a:prstGeom>
          <a:solidFill xmlns:a="http://schemas.openxmlformats.org/drawingml/2006/main">
            <a:srgbClr val="F8FCFD"/>
          </a:solidFill>
          <a:ln xmlns:a="http://schemas.openxmlformats.org/drawingml/2006/main" w="9525">
            <a:solidFill>
              <a:srgbClr val="18CBE2"/>
            </a:solidFill>
            <a:prstDash val="solid"/>
          </a:ln>
        </p:spPr>
      </p:sp>
      <p:sp>
        <p:nvSpPr>
          <p:cNvPr id="11" name="">
            <a:extLst xmlns:a="http://schemas.openxmlformats.org/drawingml/2006/main">
              <a:ext uri="{FF2B5EF4-FFF2-40B4-BE49-F238E27FC236}">
                <a16:creationId xmlns:a16="http://schemas.microsoft.com/office/drawing/2014/main" id="{CBEDED43-C203-4347-BCAF-C430E152AE32}"/>
              </a:ext>
            </a:extLst>
          </p:cNvPr>
          <p:cNvSpPr>
            <a:spLocks xmlns:a="http://schemas.openxmlformats.org/drawingml/2006/main" noGrp="1"/>
          </p:cNvSpPr>
          <p:nvPr/>
        </p:nvSpPr>
        <p:spPr>
          <a:xfrm xmlns:a="http://schemas.openxmlformats.org/drawingml/2006/main">
            <a:off x="933450" y="3924300"/>
            <a:ext cx="47339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32A3A"/>
                </a:solidFill>
                <a:latin typeface="Aptos"/>
                <a:ea typeface="Aptos"/>
                <a:cs typeface="Aptos"/>
              </a:defRPr>
            </a:pPr>
            <a:r>
              <a:rPr sz="2175" b="1">
                <a:solidFill>
                  <a:srgbClr val="132A3A"/>
                </a:solidFill>
                <a:latin typeface="Aptos"/>
                <a:ea typeface="Aptos"/>
                <a:cs typeface="Aptos"/>
              </a:rPr>
              <a:t>EtherChannel</a:t>
            </a:r>
          </a:p>
        </p:txBody>
      </p:sp>
      <p:sp>
        <p:nvSpPr>
          <p:cNvPr id="12" name="">
            <a:extLst xmlns:a="http://schemas.openxmlformats.org/drawingml/2006/main">
              <a:ext uri="{FF2B5EF4-FFF2-40B4-BE49-F238E27FC236}">
                <a16:creationId xmlns:a16="http://schemas.microsoft.com/office/drawing/2014/main" id="{7B226E93-AF80-4EB7-A204-FE2FDB14317D}"/>
              </a:ext>
            </a:extLst>
          </p:cNvPr>
          <p:cNvSpPr>
            <a:spLocks xmlns:a="http://schemas.openxmlformats.org/drawingml/2006/main" noGrp="1"/>
          </p:cNvSpPr>
          <p:nvPr/>
        </p:nvSpPr>
        <p:spPr>
          <a:xfrm xmlns:a="http://schemas.openxmlformats.org/drawingml/2006/main">
            <a:off x="933450" y="4543425"/>
            <a:ext cx="4733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E7485"/>
                </a:solidFill>
                <a:latin typeface="Aptos"/>
                <a:ea typeface="Aptos"/>
                <a:cs typeface="Aptos"/>
              </a:defRPr>
            </a:pPr>
            <a:r>
              <a:rPr sz="1500" b="0">
                <a:solidFill>
                  <a:srgbClr val="5E7485"/>
                </a:solidFill>
                <a:latin typeface="Aptos"/>
                <a:ea typeface="Aptos"/>
                <a:cs typeface="Aptos"/>
              </a:rPr>
              <a:t>show etherchannel summary</a:t>
            </a:r>
          </a:p>
        </p:txBody>
      </p:sp>
      <p:sp>
        <p:nvSpPr>
          <p:cNvPr id="13" name="">
            <a:extLst xmlns:a="http://schemas.openxmlformats.org/drawingml/2006/main">
              <a:ext uri="{FF2B5EF4-FFF2-40B4-BE49-F238E27FC236}">
                <a16:creationId xmlns:a16="http://schemas.microsoft.com/office/drawing/2014/main" id="{FEDB7716-C72D-480A-8138-12950A40B21B}"/>
              </a:ext>
            </a:extLst>
          </p:cNvPr>
          <p:cNvSpPr>
            <a:spLocks xmlns:a="http://schemas.openxmlformats.org/drawingml/2006/main" noGrp="1"/>
          </p:cNvSpPr>
          <p:nvPr/>
        </p:nvSpPr>
        <p:spPr>
          <a:xfrm xmlns:a="http://schemas.openxmlformats.org/drawingml/2006/main">
            <a:off x="6267450" y="3733800"/>
            <a:ext cx="5191125" cy="1457325"/>
          </a:xfrm>
          <a:prstGeom xmlns:a="http://schemas.openxmlformats.org/drawingml/2006/main" prst="roundRect">
            <a:avLst>
              <a:gd name="adj" fmla="val 7843"/>
            </a:avLst>
          </a:prstGeom>
          <a:solidFill xmlns:a="http://schemas.openxmlformats.org/drawingml/2006/main">
            <a:srgbClr val="F8FCFD"/>
          </a:solidFill>
          <a:ln xmlns:a="http://schemas.openxmlformats.org/drawingml/2006/main" w="9525">
            <a:solidFill>
              <a:srgbClr val="F3B96A"/>
            </a:solidFill>
            <a:prstDash val="solid"/>
          </a:ln>
        </p:spPr>
      </p:sp>
      <p:sp>
        <p:nvSpPr>
          <p:cNvPr id="14" name="">
            <a:extLst xmlns:a="http://schemas.openxmlformats.org/drawingml/2006/main">
              <a:ext uri="{FF2B5EF4-FFF2-40B4-BE49-F238E27FC236}">
                <a16:creationId xmlns:a16="http://schemas.microsoft.com/office/drawing/2014/main" id="{CB1F5D6C-75D2-4D1D-9B51-4CB61010E59B}"/>
              </a:ext>
            </a:extLst>
          </p:cNvPr>
          <p:cNvSpPr>
            <a:spLocks xmlns:a="http://schemas.openxmlformats.org/drawingml/2006/main" noGrp="1"/>
          </p:cNvSpPr>
          <p:nvPr/>
        </p:nvSpPr>
        <p:spPr>
          <a:xfrm xmlns:a="http://schemas.openxmlformats.org/drawingml/2006/main">
            <a:off x="6496050" y="3924300"/>
            <a:ext cx="47339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32A3A"/>
                </a:solidFill>
                <a:latin typeface="Aptos"/>
                <a:ea typeface="Aptos"/>
                <a:cs typeface="Aptos"/>
              </a:defRPr>
            </a:pPr>
            <a:r>
              <a:rPr sz="2175" b="1">
                <a:solidFill>
                  <a:srgbClr val="132A3A"/>
                </a:solidFill>
                <a:latin typeface="Aptos"/>
                <a:ea typeface="Aptos"/>
                <a:cs typeface="Aptos"/>
              </a:rPr>
              <a:t>PAT</a:t>
            </a:r>
          </a:p>
        </p:txBody>
      </p:sp>
      <p:sp>
        <p:nvSpPr>
          <p:cNvPr id="15" name="">
            <a:extLst xmlns:a="http://schemas.openxmlformats.org/drawingml/2006/main">
              <a:ext uri="{FF2B5EF4-FFF2-40B4-BE49-F238E27FC236}">
                <a16:creationId xmlns:a16="http://schemas.microsoft.com/office/drawing/2014/main" id="{B5ABD747-56AA-4A9F-8018-058A5618B6C4}"/>
              </a:ext>
            </a:extLst>
          </p:cNvPr>
          <p:cNvSpPr>
            <a:spLocks xmlns:a="http://schemas.openxmlformats.org/drawingml/2006/main" noGrp="1"/>
          </p:cNvSpPr>
          <p:nvPr/>
        </p:nvSpPr>
        <p:spPr>
          <a:xfrm xmlns:a="http://schemas.openxmlformats.org/drawingml/2006/main">
            <a:off x="6496050" y="4543425"/>
            <a:ext cx="4733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5E7485"/>
                </a:solidFill>
                <a:latin typeface="Aptos"/>
                <a:ea typeface="Aptos"/>
                <a:cs typeface="Aptos"/>
              </a:defRPr>
            </a:pPr>
            <a:r>
              <a:rPr sz="1500" b="0">
                <a:solidFill>
                  <a:srgbClr val="5E7485"/>
                </a:solidFill>
                <a:latin typeface="Aptos"/>
                <a:ea typeface="Aptos"/>
                <a:cs typeface="Aptos"/>
              </a:rPr>
              <a:t>show ip nat translations</a:t>
            </a:r>
          </a:p>
        </p:txBody>
      </p:sp>
    </p:spTree>
    <p:extLst>
      <p:ext uri="{BB962C8B-B14F-4D97-AF65-F5344CB8AC3E}">
        <p14:creationId xmlns:p14="http://schemas.microsoft.com/office/powerpoint/2010/main" val="356913794"/>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2026-09-24T13:14:27.6700000Z</dcterms:created>
  <dcterms:modified xsi:type="dcterms:W3CDTF">2026-09-24T13:14:27.6700000Z</dcterms:modified>
</coreProperties>
</file>